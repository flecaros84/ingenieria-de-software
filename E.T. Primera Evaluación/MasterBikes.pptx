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23"/>
  </p:notesMasterIdLst>
  <p:sldIdLst>
    <p:sldId id="256" r:id="rId5"/>
    <p:sldId id="258" r:id="rId6"/>
    <p:sldId id="282" r:id="rId7"/>
    <p:sldId id="283" r:id="rId8"/>
    <p:sldId id="302" r:id="rId9"/>
    <p:sldId id="284" r:id="rId10"/>
    <p:sldId id="291" r:id="rId11"/>
    <p:sldId id="312" r:id="rId12"/>
    <p:sldId id="311" r:id="rId13"/>
    <p:sldId id="306" r:id="rId14"/>
    <p:sldId id="303" r:id="rId15"/>
    <p:sldId id="308" r:id="rId16"/>
    <p:sldId id="304" r:id="rId17"/>
    <p:sldId id="305" r:id="rId18"/>
    <p:sldId id="309" r:id="rId19"/>
    <p:sldId id="310" r:id="rId20"/>
    <p:sldId id="307" r:id="rId21"/>
    <p:sldId id="275" r:id="rId22"/>
  </p:sldIdLst>
  <p:sldSz cx="12192000" cy="6858000"/>
  <p:notesSz cx="6858000" cy="9144000"/>
  <p:embeddedFontLst>
    <p:embeddedFont>
      <p:font typeface="Bebas Neue" panose="020B0606020202050201" pitchFamily="34" charset="0"/>
      <p:regular r:id="rId24"/>
    </p:embeddedFont>
    <p:embeddedFont>
      <p:font typeface="Franklin Gothic" panose="020B0604020202020204" charset="0"/>
      <p:regular r:id="rId25"/>
      <p:bold r:id="rId26"/>
      <p:italic r:id="rId27"/>
      <p:boldItalic r:id="rId28"/>
    </p:embeddedFont>
    <p:embeddedFont>
      <p:font typeface="Roboto Condensed" panose="02000000000000000000" pitchFamily="2" charset="0"/>
      <p:regular r:id="rId29"/>
      <p:bold r:id="rId30"/>
      <p:italic r:id="rId31"/>
      <p:boldItalic r:id="rId32"/>
    </p:embeddedFont>
    <p:embeddedFont>
      <p:font typeface="Roboto Mono" panose="00000009000000000000" pitchFamily="49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iGL/VGO7i8agjLZ+b0xxTeXcnz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7CE1"/>
    <a:srgbClr val="719AD1"/>
    <a:srgbClr val="00A4F6"/>
    <a:srgbClr val="FF8BAC"/>
    <a:srgbClr val="CBCB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4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21" Type="http://schemas.openxmlformats.org/officeDocument/2006/relationships/slide" Target="slides/slide17.xml"/><Relationship Id="rId34" Type="http://schemas.openxmlformats.org/officeDocument/2006/relationships/font" Target="fonts/font11.fntdata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8.fntdata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8" Type="http://customschemas.google.com/relationships/presentationmetadata" Target="metadata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" name="Google Shape;1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8" name="Google Shape;1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1118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985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07514B89-9860-B3AD-F321-6C72ED8FB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>
            <a:extLst>
              <a:ext uri="{FF2B5EF4-FFF2-40B4-BE49-F238E27FC236}">
                <a16:creationId xmlns:a16="http://schemas.microsoft.com/office/drawing/2014/main" id="{1E40E8E7-94F3-9E12-E91C-7A831C74DB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7" name="Google Shape;177;p6:notes">
            <a:extLst>
              <a:ext uri="{FF2B5EF4-FFF2-40B4-BE49-F238E27FC236}">
                <a16:creationId xmlns:a16="http://schemas.microsoft.com/office/drawing/2014/main" id="{435A99AD-BB32-CC4D-7550-5540E82E78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6668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7" name="Google Shape;1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21781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8D29B390-AB65-B572-245E-24B7AE23F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>
            <a:extLst>
              <a:ext uri="{FF2B5EF4-FFF2-40B4-BE49-F238E27FC236}">
                <a16:creationId xmlns:a16="http://schemas.microsoft.com/office/drawing/2014/main" id="{0A026180-E250-81DD-E5F7-A7C581BB3A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7" name="Google Shape;177;p6:notes">
            <a:extLst>
              <a:ext uri="{FF2B5EF4-FFF2-40B4-BE49-F238E27FC236}">
                <a16:creationId xmlns:a16="http://schemas.microsoft.com/office/drawing/2014/main" id="{3C73A255-3E56-AFE3-DE0B-799616942D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00900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4F8A33A8-C0A5-4B3C-CD02-E4AA4ADB2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>
            <a:extLst>
              <a:ext uri="{FF2B5EF4-FFF2-40B4-BE49-F238E27FC236}">
                <a16:creationId xmlns:a16="http://schemas.microsoft.com/office/drawing/2014/main" id="{1AA806B4-F4F0-7FF1-510B-7872725D1F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5:notes">
            <a:extLst>
              <a:ext uri="{FF2B5EF4-FFF2-40B4-BE49-F238E27FC236}">
                <a16:creationId xmlns:a16="http://schemas.microsoft.com/office/drawing/2014/main" id="{D24B56A0-31A6-A6CB-1FC9-1F6C7B7EE1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69394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4F8A33A8-C0A5-4B3C-CD02-E4AA4ADB2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>
            <a:extLst>
              <a:ext uri="{FF2B5EF4-FFF2-40B4-BE49-F238E27FC236}">
                <a16:creationId xmlns:a16="http://schemas.microsoft.com/office/drawing/2014/main" id="{1AA806B4-F4F0-7FF1-510B-7872725D1F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5:notes">
            <a:extLst>
              <a:ext uri="{FF2B5EF4-FFF2-40B4-BE49-F238E27FC236}">
                <a16:creationId xmlns:a16="http://schemas.microsoft.com/office/drawing/2014/main" id="{D24B56A0-31A6-A6CB-1FC9-1F6C7B7EE1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69394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EFE7EADF-4949-7B17-1B49-366E1408E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>
            <a:extLst>
              <a:ext uri="{FF2B5EF4-FFF2-40B4-BE49-F238E27FC236}">
                <a16:creationId xmlns:a16="http://schemas.microsoft.com/office/drawing/2014/main" id="{9354778F-9ACF-C2BD-AB0C-C214314270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5:notes">
            <a:extLst>
              <a:ext uri="{FF2B5EF4-FFF2-40B4-BE49-F238E27FC236}">
                <a16:creationId xmlns:a16="http://schemas.microsoft.com/office/drawing/2014/main" id="{7073785B-B049-B59B-D924-7029EF1931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9041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4F9384F1-F9D4-4415-53A4-64F8D7C7F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>
            <a:extLst>
              <a:ext uri="{FF2B5EF4-FFF2-40B4-BE49-F238E27FC236}">
                <a16:creationId xmlns:a16="http://schemas.microsoft.com/office/drawing/2014/main" id="{B1E8B306-F381-0B48-E1BD-92E2E223DC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5:notes">
            <a:extLst>
              <a:ext uri="{FF2B5EF4-FFF2-40B4-BE49-F238E27FC236}">
                <a16:creationId xmlns:a16="http://schemas.microsoft.com/office/drawing/2014/main" id="{F03B5CCC-51B9-3952-3237-DA529F2567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762940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EA20DD73-4076-4779-E93F-D4521A682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>
            <a:extLst>
              <a:ext uri="{FF2B5EF4-FFF2-40B4-BE49-F238E27FC236}">
                <a16:creationId xmlns:a16="http://schemas.microsoft.com/office/drawing/2014/main" id="{55D2856C-B73D-311E-57BB-770A7D258C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5:notes">
            <a:extLst>
              <a:ext uri="{FF2B5EF4-FFF2-40B4-BE49-F238E27FC236}">
                <a16:creationId xmlns:a16="http://schemas.microsoft.com/office/drawing/2014/main" id="{C2646CC3-ED06-CE5D-33FB-58DEB06D1B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12758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6C6FB9DE-36FD-80DD-6E21-EA5D6A7B8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>
            <a:extLst>
              <a:ext uri="{FF2B5EF4-FFF2-40B4-BE49-F238E27FC236}">
                <a16:creationId xmlns:a16="http://schemas.microsoft.com/office/drawing/2014/main" id="{DF34D03B-081A-0D5D-80D8-01CB0AB777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5:notes">
            <a:extLst>
              <a:ext uri="{FF2B5EF4-FFF2-40B4-BE49-F238E27FC236}">
                <a16:creationId xmlns:a16="http://schemas.microsoft.com/office/drawing/2014/main" id="{9C2A862F-54DA-7F6C-BB1E-3B41AAF38F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70780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79986E64-18FA-DB68-9320-E58DD0A85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>
            <a:extLst>
              <a:ext uri="{FF2B5EF4-FFF2-40B4-BE49-F238E27FC236}">
                <a16:creationId xmlns:a16="http://schemas.microsoft.com/office/drawing/2014/main" id="{27AFC8F6-3EA7-CDF4-D489-59DEEF8A86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5:notes">
            <a:extLst>
              <a:ext uri="{FF2B5EF4-FFF2-40B4-BE49-F238E27FC236}">
                <a16:creationId xmlns:a16="http://schemas.microsoft.com/office/drawing/2014/main" id="{50AE8AFB-5F18-D1CD-2B49-0F749D7BF1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98054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FB9AED69-0ABE-4D08-7F3A-7C6A98013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>
            <a:extLst>
              <a:ext uri="{FF2B5EF4-FFF2-40B4-BE49-F238E27FC236}">
                <a16:creationId xmlns:a16="http://schemas.microsoft.com/office/drawing/2014/main" id="{76ED5EB5-CDA1-D9A2-D767-8D9F88F5CE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5:notes">
            <a:extLst>
              <a:ext uri="{FF2B5EF4-FFF2-40B4-BE49-F238E27FC236}">
                <a16:creationId xmlns:a16="http://schemas.microsoft.com/office/drawing/2014/main" id="{523D2017-FF59-834D-1BA2-C73D93F485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18825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E9FD7573-E4AA-C064-816C-55B06518C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>
            <a:extLst>
              <a:ext uri="{FF2B5EF4-FFF2-40B4-BE49-F238E27FC236}">
                <a16:creationId xmlns:a16="http://schemas.microsoft.com/office/drawing/2014/main" id="{C67D6F76-ACC8-8A98-1C17-176AE32BB1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5:notes">
            <a:extLst>
              <a:ext uri="{FF2B5EF4-FFF2-40B4-BE49-F238E27FC236}">
                <a16:creationId xmlns:a16="http://schemas.microsoft.com/office/drawing/2014/main" id="{C59A9D24-4D2C-F05A-36C4-7779CEB014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60195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899EE710-CE5E-A3BD-1D64-84533E4B5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>
            <a:extLst>
              <a:ext uri="{FF2B5EF4-FFF2-40B4-BE49-F238E27FC236}">
                <a16:creationId xmlns:a16="http://schemas.microsoft.com/office/drawing/2014/main" id="{A09E0A96-A10D-1687-E96D-CEC899314E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7" name="Google Shape;177;p6:notes">
            <a:extLst>
              <a:ext uri="{FF2B5EF4-FFF2-40B4-BE49-F238E27FC236}">
                <a16:creationId xmlns:a16="http://schemas.microsoft.com/office/drawing/2014/main" id="{AA29BF8A-909A-DDA1-0652-DA46E77461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95293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8" name="Google Shape;26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obj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42"/>
            <a:ext cx="12192431" cy="685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2"/>
          <p:cNvSpPr txBox="1">
            <a:spLocks noGrp="1"/>
          </p:cNvSpPr>
          <p:nvPr>
            <p:ph type="ctrTitle"/>
          </p:nvPr>
        </p:nvSpPr>
        <p:spPr>
          <a:xfrm>
            <a:off x="1721213" y="5276020"/>
            <a:ext cx="4112779" cy="239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728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2"/>
          <p:cNvSpPr txBox="1">
            <a:spLocks noGrp="1"/>
          </p:cNvSpPr>
          <p:nvPr>
            <p:ph type="subTitle" idx="1"/>
          </p:nvPr>
        </p:nvSpPr>
        <p:spPr>
          <a:xfrm>
            <a:off x="1721214" y="5828916"/>
            <a:ext cx="5283748" cy="2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  <a:defRPr sz="10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p22"/>
          <p:cNvSpPr/>
          <p:nvPr/>
        </p:nvSpPr>
        <p:spPr>
          <a:xfrm>
            <a:off x="1721214" y="5739387"/>
            <a:ext cx="5361631" cy="0"/>
          </a:xfrm>
          <a:custGeom>
            <a:avLst/>
            <a:gdLst/>
            <a:ahLst/>
            <a:cxnLst/>
            <a:rect l="l" t="t" r="r" b="b"/>
            <a:pathLst>
              <a:path w="8841105" h="120000" extrusionOk="0">
                <a:moveTo>
                  <a:pt x="0" y="0"/>
                </a:moveTo>
                <a:lnTo>
                  <a:pt x="8840652" y="0"/>
                </a:lnTo>
              </a:path>
            </a:pathLst>
          </a:custGeom>
          <a:noFill/>
          <a:ln w="104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37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Diseño personalizado">
  <p:cSld name="5_Diseño personalizad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2026"/>
            <a:ext cx="12195607" cy="68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4"/>
          <p:cNvSpPr txBox="1">
            <a:spLocks noGrp="1"/>
          </p:cNvSpPr>
          <p:nvPr>
            <p:ph type="title"/>
          </p:nvPr>
        </p:nvSpPr>
        <p:spPr>
          <a:xfrm>
            <a:off x="504470" y="4353155"/>
            <a:ext cx="5932243" cy="93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seño personalizado">
  <p:cSld name="1_Diseño personalizado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6"/>
          <p:cNvSpPr txBox="1">
            <a:spLocks noGrp="1"/>
          </p:cNvSpPr>
          <p:nvPr>
            <p:ph type="title"/>
          </p:nvPr>
        </p:nvSpPr>
        <p:spPr>
          <a:xfrm>
            <a:off x="1474901" y="433331"/>
            <a:ext cx="10302421" cy="44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8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6"/>
          <p:cNvSpPr/>
          <p:nvPr/>
        </p:nvSpPr>
        <p:spPr>
          <a:xfrm>
            <a:off x="-3851" y="397869"/>
            <a:ext cx="1360528" cy="643058"/>
          </a:xfrm>
          <a:custGeom>
            <a:avLst/>
            <a:gdLst/>
            <a:ahLst/>
            <a:cxnLst/>
            <a:rect l="l" t="t" r="r" b="b"/>
            <a:pathLst>
              <a:path w="2243455" h="1060450" extrusionOk="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37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6"/>
          <p:cNvSpPr/>
          <p:nvPr/>
        </p:nvSpPr>
        <p:spPr>
          <a:xfrm>
            <a:off x="10272195" y="6186691"/>
            <a:ext cx="955797" cy="309977"/>
          </a:xfrm>
          <a:custGeom>
            <a:avLst/>
            <a:gdLst/>
            <a:ahLst/>
            <a:cxnLst/>
            <a:rect l="l" t="t" r="r" b="b"/>
            <a:pathLst>
              <a:path w="1576069" h="511175" extrusionOk="0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69" h="511175" extrusionOk="0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69" h="511175" extrusionOk="0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69" h="511175" extrusionOk="0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37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6"/>
          <p:cNvSpPr/>
          <p:nvPr/>
        </p:nvSpPr>
        <p:spPr>
          <a:xfrm>
            <a:off x="11294124" y="6212763"/>
            <a:ext cx="229515" cy="284948"/>
          </a:xfrm>
          <a:custGeom>
            <a:avLst/>
            <a:gdLst/>
            <a:ahLst/>
            <a:cxnLst/>
            <a:rect l="l" t="t" r="r" b="b"/>
            <a:pathLst>
              <a:path w="378459" h="469900" extrusionOk="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37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" name="Google Shape;29;p26"/>
          <p:cNvGrpSpPr/>
          <p:nvPr/>
        </p:nvGrpSpPr>
        <p:grpSpPr>
          <a:xfrm>
            <a:off x="11555126" y="6135384"/>
            <a:ext cx="258961" cy="362375"/>
            <a:chOff x="19053919" y="10117702"/>
            <a:chExt cx="427015" cy="597582"/>
          </a:xfrm>
        </p:grpSpPr>
        <p:sp>
          <p:nvSpPr>
            <p:cNvPr id="30" name="Google Shape;30;p26"/>
            <p:cNvSpPr/>
            <p:nvPr/>
          </p:nvSpPr>
          <p:spPr>
            <a:xfrm>
              <a:off x="19053919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 extrusionOk="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37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" name="Google Shape;31;p2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7"/>
          <p:cNvSpPr/>
          <p:nvPr/>
        </p:nvSpPr>
        <p:spPr>
          <a:xfrm>
            <a:off x="441023" y="6186691"/>
            <a:ext cx="955797" cy="309977"/>
          </a:xfrm>
          <a:custGeom>
            <a:avLst/>
            <a:gdLst/>
            <a:ahLst/>
            <a:cxnLst/>
            <a:rect l="l" t="t" r="r" b="b"/>
            <a:pathLst>
              <a:path w="1576070" h="511175" extrusionOk="0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70" h="511175" extrusionOk="0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70" h="511175" extrusionOk="0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70" h="511175" extrusionOk="0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37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7"/>
          <p:cNvSpPr/>
          <p:nvPr/>
        </p:nvSpPr>
        <p:spPr>
          <a:xfrm>
            <a:off x="1462952" y="6212763"/>
            <a:ext cx="229515" cy="284948"/>
          </a:xfrm>
          <a:custGeom>
            <a:avLst/>
            <a:gdLst/>
            <a:ahLst/>
            <a:cxnLst/>
            <a:rect l="l" t="t" r="r" b="b"/>
            <a:pathLst>
              <a:path w="378460" h="469900" extrusionOk="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37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" name="Google Shape;35;p27"/>
          <p:cNvGrpSpPr/>
          <p:nvPr/>
        </p:nvGrpSpPr>
        <p:grpSpPr>
          <a:xfrm>
            <a:off x="1723954" y="6135384"/>
            <a:ext cx="258961" cy="362375"/>
            <a:chOff x="2842727" y="10117702"/>
            <a:chExt cx="427015" cy="597582"/>
          </a:xfrm>
        </p:grpSpPr>
        <p:sp>
          <p:nvSpPr>
            <p:cNvPr id="36" name="Google Shape;36;p27"/>
            <p:cNvSpPr/>
            <p:nvPr/>
          </p:nvSpPr>
          <p:spPr>
            <a:xfrm>
              <a:off x="2842727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 extrusionOk="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37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" name="Google Shape;37;p27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" name="Google Shape;38;p27"/>
          <p:cNvSpPr/>
          <p:nvPr/>
        </p:nvSpPr>
        <p:spPr>
          <a:xfrm>
            <a:off x="10819315" y="397869"/>
            <a:ext cx="1360528" cy="643058"/>
          </a:xfrm>
          <a:custGeom>
            <a:avLst/>
            <a:gdLst/>
            <a:ahLst/>
            <a:cxnLst/>
            <a:rect l="l" t="t" r="r" b="b"/>
            <a:pathLst>
              <a:path w="2243455" h="1060450" extrusionOk="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37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7"/>
          <p:cNvSpPr txBox="1">
            <a:spLocks noGrp="1"/>
          </p:cNvSpPr>
          <p:nvPr>
            <p:ph type="body" idx="1"/>
          </p:nvPr>
        </p:nvSpPr>
        <p:spPr>
          <a:xfrm>
            <a:off x="441023" y="458109"/>
            <a:ext cx="10183655" cy="44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Autofit/>
          </a:bodyPr>
          <a:lstStyle>
            <a:lvl1pPr marL="457200" lvl="0" indent="-4064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  <a:defRPr sz="2183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marL="3657600" lvl="7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marL="4114800" lvl="8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Diseño personalizado">
  <p:cSld name="6_Diseño personalizad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42"/>
            <a:ext cx="12192431" cy="685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1" y="0"/>
            <a:ext cx="1218792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8"/>
          <p:cNvSpPr/>
          <p:nvPr/>
        </p:nvSpPr>
        <p:spPr>
          <a:xfrm>
            <a:off x="4386194" y="4778652"/>
            <a:ext cx="5999201" cy="1386232"/>
          </a:xfrm>
          <a:prstGeom prst="rect">
            <a:avLst/>
          </a:prstGeom>
          <a:solidFill>
            <a:schemeClr val="dk1">
              <a:alpha val="5882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37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8"/>
          <p:cNvSpPr txBox="1">
            <a:spLocks noGrp="1"/>
          </p:cNvSpPr>
          <p:nvPr>
            <p:ph type="title"/>
          </p:nvPr>
        </p:nvSpPr>
        <p:spPr>
          <a:xfrm>
            <a:off x="4646223" y="4977021"/>
            <a:ext cx="5470133" cy="93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bg>
      <p:bgPr>
        <a:solidFill>
          <a:schemeClr val="dk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0"/>
          <p:cNvSpPr txBox="1">
            <a:spLocks noGrp="1"/>
          </p:cNvSpPr>
          <p:nvPr>
            <p:ph type="title"/>
          </p:nvPr>
        </p:nvSpPr>
        <p:spPr>
          <a:xfrm>
            <a:off x="4828848" y="2987430"/>
            <a:ext cx="6526400" cy="28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6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 1">
  <p:cSld name="TITLE_4_1_1">
    <p:bg>
      <p:bgPr>
        <a:solidFill>
          <a:schemeClr val="dk2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03076" y="186298"/>
            <a:ext cx="5082864" cy="6013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31"/>
          <p:cNvGrpSpPr/>
          <p:nvPr/>
        </p:nvGrpSpPr>
        <p:grpSpPr>
          <a:xfrm>
            <a:off x="1" y="-124"/>
            <a:ext cx="6471553" cy="5740374"/>
            <a:chOff x="0" y="-126"/>
            <a:chExt cx="4554438" cy="5386482"/>
          </a:xfrm>
        </p:grpSpPr>
        <p:sp>
          <p:nvSpPr>
            <p:cNvPr id="55" name="Google Shape;55;p31"/>
            <p:cNvSpPr/>
            <p:nvPr/>
          </p:nvSpPr>
          <p:spPr>
            <a:xfrm rot="10800000" flipH="1">
              <a:off x="0" y="-126"/>
              <a:ext cx="4554438" cy="5386482"/>
            </a:xfrm>
            <a:custGeom>
              <a:avLst/>
              <a:gdLst/>
              <a:ahLst/>
              <a:cxnLst/>
              <a:rect l="l" t="t" r="r" b="b"/>
              <a:pathLst>
                <a:path w="5389868" h="6374535" extrusionOk="0">
                  <a:moveTo>
                    <a:pt x="620377" y="6374535"/>
                  </a:moveTo>
                  <a:lnTo>
                    <a:pt x="3459520" y="6374535"/>
                  </a:lnTo>
                  <a:lnTo>
                    <a:pt x="3638761" y="6288190"/>
                  </a:lnTo>
                  <a:cubicBezTo>
                    <a:pt x="4681799" y="5721578"/>
                    <a:pt x="5389868" y="4616487"/>
                    <a:pt x="5389868" y="3346018"/>
                  </a:cubicBezTo>
                  <a:cubicBezTo>
                    <a:pt x="5389868" y="1498063"/>
                    <a:pt x="3891805" y="0"/>
                    <a:pt x="2043850" y="0"/>
                  </a:cubicBezTo>
                  <a:cubicBezTo>
                    <a:pt x="1336430" y="0"/>
                    <a:pt x="680285" y="219535"/>
                    <a:pt x="139826" y="594192"/>
                  </a:cubicBezTo>
                  <a:lnTo>
                    <a:pt x="0" y="700065"/>
                  </a:lnTo>
                  <a:lnTo>
                    <a:pt x="0" y="5991971"/>
                  </a:lnTo>
                  <a:lnTo>
                    <a:pt x="139827" y="6097845"/>
                  </a:lnTo>
                  <a:cubicBezTo>
                    <a:pt x="217035" y="6151367"/>
                    <a:pt x="296605" y="6201724"/>
                    <a:pt x="378347" y="6248727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6" name="Google Shape;56;p31" descr="Una caricatura de una ciudad&#10;&#10;Descripción generada automáticamente"/>
            <p:cNvPicPr preferRelativeResize="0"/>
            <p:nvPr/>
          </p:nvPicPr>
          <p:blipFill rotWithShape="1">
            <a:blip r:embed="rId3">
              <a:alphaModFix/>
            </a:blip>
            <a:srcRect l="9870" r="6482"/>
            <a:stretch/>
          </p:blipFill>
          <p:spPr>
            <a:xfrm>
              <a:off x="1" y="-1"/>
              <a:ext cx="4423169" cy="5247982"/>
            </a:xfrm>
            <a:custGeom>
              <a:avLst/>
              <a:gdLst/>
              <a:ahLst/>
              <a:cxnLst/>
              <a:rect l="l" t="t" r="r" b="b"/>
              <a:pathLst>
                <a:path w="5234519" h="6210629" extrusionOk="0">
                  <a:moveTo>
                    <a:pt x="1082595" y="0"/>
                  </a:moveTo>
                  <a:lnTo>
                    <a:pt x="3027450" y="0"/>
                  </a:lnTo>
                  <a:lnTo>
                    <a:pt x="3291029" y="96471"/>
                  </a:lnTo>
                  <a:cubicBezTo>
                    <a:pt x="4433137" y="579542"/>
                    <a:pt x="5234519" y="1710443"/>
                    <a:pt x="5234519" y="3028517"/>
                  </a:cubicBezTo>
                  <a:cubicBezTo>
                    <a:pt x="5234519" y="4785949"/>
                    <a:pt x="3809839" y="6210629"/>
                    <a:pt x="2052407" y="6210629"/>
                  </a:cubicBezTo>
                  <a:cubicBezTo>
                    <a:pt x="1283531" y="6210629"/>
                    <a:pt x="578345" y="5937936"/>
                    <a:pt x="28288" y="5483989"/>
                  </a:cubicBezTo>
                  <a:lnTo>
                    <a:pt x="0" y="5458279"/>
                  </a:lnTo>
                  <a:lnTo>
                    <a:pt x="0" y="598754"/>
                  </a:lnTo>
                  <a:lnTo>
                    <a:pt x="28288" y="573044"/>
                  </a:lnTo>
                  <a:cubicBezTo>
                    <a:pt x="303317" y="346070"/>
                    <a:pt x="617127" y="164410"/>
                    <a:pt x="958290" y="39494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57" name="Google Shape;57;p31"/>
          <p:cNvSpPr txBox="1">
            <a:spLocks noGrp="1"/>
          </p:cNvSpPr>
          <p:nvPr>
            <p:ph type="title"/>
          </p:nvPr>
        </p:nvSpPr>
        <p:spPr>
          <a:xfrm>
            <a:off x="4006100" y="3476150"/>
            <a:ext cx="7994400" cy="1603200"/>
          </a:xfrm>
          <a:prstGeom prst="rect">
            <a:avLst/>
          </a:prstGeom>
          <a:solidFill>
            <a:srgbClr val="DE3075">
              <a:alpha val="6392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 2">
  <p:cSld name="TITLE_4">
    <p:bg>
      <p:bgPr>
        <a:solidFill>
          <a:schemeClr val="accen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32"/>
          <p:cNvGrpSpPr/>
          <p:nvPr/>
        </p:nvGrpSpPr>
        <p:grpSpPr>
          <a:xfrm>
            <a:off x="1" y="-124"/>
            <a:ext cx="6471553" cy="5740374"/>
            <a:chOff x="0" y="-126"/>
            <a:chExt cx="4554438" cy="5386482"/>
          </a:xfrm>
        </p:grpSpPr>
        <p:sp>
          <p:nvSpPr>
            <p:cNvPr id="60" name="Google Shape;60;p32"/>
            <p:cNvSpPr/>
            <p:nvPr/>
          </p:nvSpPr>
          <p:spPr>
            <a:xfrm rot="10800000" flipH="1">
              <a:off x="0" y="-126"/>
              <a:ext cx="4554438" cy="5386482"/>
            </a:xfrm>
            <a:custGeom>
              <a:avLst/>
              <a:gdLst/>
              <a:ahLst/>
              <a:cxnLst/>
              <a:rect l="l" t="t" r="r" b="b"/>
              <a:pathLst>
                <a:path w="5389868" h="6374535" extrusionOk="0">
                  <a:moveTo>
                    <a:pt x="620377" y="6374535"/>
                  </a:moveTo>
                  <a:lnTo>
                    <a:pt x="3459520" y="6374535"/>
                  </a:lnTo>
                  <a:lnTo>
                    <a:pt x="3638761" y="6288190"/>
                  </a:lnTo>
                  <a:cubicBezTo>
                    <a:pt x="4681799" y="5721578"/>
                    <a:pt x="5389868" y="4616487"/>
                    <a:pt x="5389868" y="3346018"/>
                  </a:cubicBezTo>
                  <a:cubicBezTo>
                    <a:pt x="5389868" y="1498063"/>
                    <a:pt x="3891805" y="0"/>
                    <a:pt x="2043850" y="0"/>
                  </a:cubicBezTo>
                  <a:cubicBezTo>
                    <a:pt x="1336430" y="0"/>
                    <a:pt x="680285" y="219535"/>
                    <a:pt x="139826" y="594192"/>
                  </a:cubicBezTo>
                  <a:lnTo>
                    <a:pt x="0" y="700065"/>
                  </a:lnTo>
                  <a:lnTo>
                    <a:pt x="0" y="5991971"/>
                  </a:lnTo>
                  <a:lnTo>
                    <a:pt x="139827" y="6097845"/>
                  </a:lnTo>
                  <a:cubicBezTo>
                    <a:pt x="217035" y="6151367"/>
                    <a:pt x="296605" y="6201724"/>
                    <a:pt x="378347" y="6248727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1" name="Google Shape;61;p32" descr="Imagen que contiene persona, foto, hombre, mujer&#10;&#10;Descripción generada automáticamente"/>
            <p:cNvPicPr preferRelativeResize="0"/>
            <p:nvPr/>
          </p:nvPicPr>
          <p:blipFill rotWithShape="1">
            <a:blip r:embed="rId2">
              <a:alphaModFix/>
            </a:blip>
            <a:srcRect r="16351"/>
            <a:stretch/>
          </p:blipFill>
          <p:spPr>
            <a:xfrm>
              <a:off x="1" y="-1"/>
              <a:ext cx="4423169" cy="5247982"/>
            </a:xfrm>
            <a:custGeom>
              <a:avLst/>
              <a:gdLst/>
              <a:ahLst/>
              <a:cxnLst/>
              <a:rect l="l" t="t" r="r" b="b"/>
              <a:pathLst>
                <a:path w="5234519" h="6210629" extrusionOk="0">
                  <a:moveTo>
                    <a:pt x="1082595" y="0"/>
                  </a:moveTo>
                  <a:lnTo>
                    <a:pt x="3027450" y="0"/>
                  </a:lnTo>
                  <a:lnTo>
                    <a:pt x="3291029" y="96471"/>
                  </a:lnTo>
                  <a:cubicBezTo>
                    <a:pt x="4433137" y="579542"/>
                    <a:pt x="5234519" y="1710443"/>
                    <a:pt x="5234519" y="3028517"/>
                  </a:cubicBezTo>
                  <a:cubicBezTo>
                    <a:pt x="5234519" y="4785949"/>
                    <a:pt x="3809839" y="6210629"/>
                    <a:pt x="2052407" y="6210629"/>
                  </a:cubicBezTo>
                  <a:cubicBezTo>
                    <a:pt x="1283531" y="6210629"/>
                    <a:pt x="578345" y="5937936"/>
                    <a:pt x="28288" y="5483989"/>
                  </a:cubicBezTo>
                  <a:lnTo>
                    <a:pt x="0" y="5458279"/>
                  </a:lnTo>
                  <a:lnTo>
                    <a:pt x="0" y="598754"/>
                  </a:lnTo>
                  <a:lnTo>
                    <a:pt x="28288" y="573044"/>
                  </a:lnTo>
                  <a:cubicBezTo>
                    <a:pt x="303317" y="346070"/>
                    <a:pt x="617127" y="164410"/>
                    <a:pt x="958290" y="39494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62" name="Google Shape;62;p32"/>
          <p:cNvSpPr txBox="1">
            <a:spLocks noGrp="1"/>
          </p:cNvSpPr>
          <p:nvPr>
            <p:ph type="title"/>
          </p:nvPr>
        </p:nvSpPr>
        <p:spPr>
          <a:xfrm>
            <a:off x="4006100" y="3476150"/>
            <a:ext cx="7994400" cy="1603200"/>
          </a:xfrm>
          <a:prstGeom prst="rect">
            <a:avLst/>
          </a:prstGeom>
          <a:solidFill>
            <a:srgbClr val="898B90">
              <a:alpha val="68235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9pPr>
          </a:lstStyle>
          <a:p>
            <a:endParaRPr/>
          </a:p>
        </p:txBody>
      </p:sp>
      <p:pic>
        <p:nvPicPr>
          <p:cNvPr id="63" name="Google Shape;6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03076" y="186298"/>
            <a:ext cx="5082864" cy="601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 3">
  <p:cSld name="TITLE_1_1">
    <p:bg>
      <p:bgPr>
        <a:solidFill>
          <a:schemeClr val="accent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3"/>
          <p:cNvSpPr/>
          <p:nvPr/>
        </p:nvSpPr>
        <p:spPr>
          <a:xfrm rot="10800000" flipH="1">
            <a:off x="1" y="3086"/>
            <a:ext cx="6467841" cy="5737081"/>
          </a:xfrm>
          <a:custGeom>
            <a:avLst/>
            <a:gdLst/>
            <a:ahLst/>
            <a:cxnLst/>
            <a:rect l="l" t="t" r="r" b="b"/>
            <a:pathLst>
              <a:path w="5389868" h="6374535" extrusionOk="0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03076" y="186298"/>
            <a:ext cx="5082864" cy="601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33" descr="Una caricatura de una ciudad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 l="9870" r="6482"/>
          <a:stretch/>
        </p:blipFill>
        <p:spPr>
          <a:xfrm>
            <a:off x="2" y="10"/>
            <a:ext cx="6281423" cy="5589566"/>
          </a:xfrm>
          <a:custGeom>
            <a:avLst/>
            <a:gdLst/>
            <a:ahLst/>
            <a:cxnLst/>
            <a:rect l="l" t="t" r="r" b="b"/>
            <a:pathLst>
              <a:path w="5234519" h="6210629" extrusionOk="0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68" name="Google Shape;68;p33"/>
          <p:cNvSpPr txBox="1">
            <a:spLocks noGrp="1"/>
          </p:cNvSpPr>
          <p:nvPr>
            <p:ph type="title"/>
          </p:nvPr>
        </p:nvSpPr>
        <p:spPr>
          <a:xfrm>
            <a:off x="4006100" y="3476150"/>
            <a:ext cx="7994400" cy="1603200"/>
          </a:xfrm>
          <a:prstGeom prst="rect">
            <a:avLst/>
          </a:prstGeom>
          <a:solidFill>
            <a:srgbClr val="898B90">
              <a:alpha val="68235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4"/>
          <p:cNvSpPr/>
          <p:nvPr/>
        </p:nvSpPr>
        <p:spPr>
          <a:xfrm>
            <a:off x="1830633" y="212725"/>
            <a:ext cx="6408499" cy="813000"/>
          </a:xfrm>
          <a:prstGeom prst="parallelogram">
            <a:avLst>
              <a:gd name="adj" fmla="val 4531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1" name="Google Shape;71;p34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name="adj" fmla="val 45310"/>
            </a:avLst>
          </a:prstGeom>
          <a:solidFill>
            <a:srgbClr val="8189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4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name="adj" fmla="val 45310"/>
            </a:avLst>
          </a:prstGeom>
          <a:gradFill>
            <a:gsLst>
              <a:gs pos="0">
                <a:srgbClr val="FFFFFF"/>
              </a:gs>
              <a:gs pos="65000">
                <a:schemeClr val="dk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4"/>
          <p:cNvSpPr txBox="1">
            <a:spLocks noGrp="1"/>
          </p:cNvSpPr>
          <p:nvPr>
            <p:ph type="title"/>
          </p:nvPr>
        </p:nvSpPr>
        <p:spPr>
          <a:xfrm>
            <a:off x="2351599" y="212725"/>
            <a:ext cx="5717580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74" name="Google Shape;74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9133" y="389414"/>
            <a:ext cx="3662271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4"/>
          <p:cNvSpPr txBox="1">
            <a:spLocks noGrp="1"/>
          </p:cNvSpPr>
          <p:nvPr>
            <p:ph type="body" idx="1"/>
          </p:nvPr>
        </p:nvSpPr>
        <p:spPr>
          <a:xfrm>
            <a:off x="392200" y="1218600"/>
            <a:ext cx="11407600" cy="51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sz="2400" i="0" u="none" strike="noStrike" cap="non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sz="2000" i="0" u="none" strike="noStrik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sz="1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marL="1828800" marR="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sz="1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marL="2743200" marR="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sz="12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marL="3200400" marR="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sz="10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marL="3657600" marR="0" lvl="7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sz="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marL="4114800" marR="0" lvl="8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sz="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endParaRPr/>
          </a:p>
        </p:txBody>
      </p:sp>
      <p:sp>
        <p:nvSpPr>
          <p:cNvPr id="76" name="Google Shape;76;p34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sz="1200" b="0" i="0" u="none" strike="noStrike" cap="none" dirty="0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2">
  <p:cSld name="OBJECT 2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5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name="adj" fmla="val 4531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5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name="adj" fmla="val 45310"/>
            </a:avLst>
          </a:prstGeom>
          <a:gradFill>
            <a:gsLst>
              <a:gs pos="0">
                <a:srgbClr val="FFFFFF"/>
              </a:gs>
              <a:gs pos="65000">
                <a:schemeClr val="accent1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9133" y="389414"/>
            <a:ext cx="3662271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5"/>
          <p:cNvSpPr txBox="1">
            <a:spLocks noGrp="1"/>
          </p:cNvSpPr>
          <p:nvPr>
            <p:ph type="body" idx="1"/>
          </p:nvPr>
        </p:nvSpPr>
        <p:spPr>
          <a:xfrm>
            <a:off x="392200" y="1218600"/>
            <a:ext cx="11407600" cy="51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sz="2400" i="0" u="none" strike="noStrike" cap="non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sz="2000" i="0" u="none" strike="noStrik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sz="1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marL="1828800" marR="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sz="1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marL="2743200" marR="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sz="12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marL="3200400" marR="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sz="10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marL="3657600" marR="0" lvl="7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sz="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marL="4114800" marR="0" lvl="8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sz="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endParaRPr/>
          </a:p>
        </p:txBody>
      </p:sp>
      <p:sp>
        <p:nvSpPr>
          <p:cNvPr id="82" name="Google Shape;82;p35"/>
          <p:cNvSpPr/>
          <p:nvPr/>
        </p:nvSpPr>
        <p:spPr>
          <a:xfrm>
            <a:off x="1830633" y="212725"/>
            <a:ext cx="6408499" cy="813000"/>
          </a:xfrm>
          <a:prstGeom prst="parallelogram">
            <a:avLst>
              <a:gd name="adj" fmla="val 4531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3" name="Google Shape;83;p35"/>
          <p:cNvSpPr txBox="1">
            <a:spLocks noGrp="1"/>
          </p:cNvSpPr>
          <p:nvPr>
            <p:ph type="title"/>
          </p:nvPr>
        </p:nvSpPr>
        <p:spPr>
          <a:xfrm>
            <a:off x="2351599" y="212725"/>
            <a:ext cx="5717580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5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sz="1200" b="0" i="0" u="none" strike="noStrike" cap="none" dirty="0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3">
  <p:cSld name="OBJECT_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6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name="adj" fmla="val 45310"/>
            </a:avLst>
          </a:prstGeom>
          <a:solidFill>
            <a:srgbClr val="7027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6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name="adj" fmla="val 45310"/>
            </a:avLst>
          </a:prstGeom>
          <a:gradFill>
            <a:gsLst>
              <a:gs pos="0">
                <a:srgbClr val="FFFFFF"/>
              </a:gs>
              <a:gs pos="6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9133" y="389414"/>
            <a:ext cx="3662271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6"/>
          <p:cNvSpPr txBox="1">
            <a:spLocks noGrp="1"/>
          </p:cNvSpPr>
          <p:nvPr>
            <p:ph type="body" idx="1"/>
          </p:nvPr>
        </p:nvSpPr>
        <p:spPr>
          <a:xfrm>
            <a:off x="392200" y="1218600"/>
            <a:ext cx="11407600" cy="51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sz="2400" i="0" u="none" strike="noStrike" cap="non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sz="2000" i="0" u="none" strike="noStrik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sz="1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marL="1828800" marR="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sz="1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marL="2743200" marR="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sz="12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marL="3200400" marR="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sz="10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marL="3657600" marR="0" lvl="7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sz="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marL="4114800" marR="0" lvl="8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sz="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endParaRPr/>
          </a:p>
        </p:txBody>
      </p:sp>
      <p:sp>
        <p:nvSpPr>
          <p:cNvPr id="90" name="Google Shape;90;p36"/>
          <p:cNvSpPr/>
          <p:nvPr/>
        </p:nvSpPr>
        <p:spPr>
          <a:xfrm>
            <a:off x="1830633" y="212725"/>
            <a:ext cx="6408499" cy="813000"/>
          </a:xfrm>
          <a:prstGeom prst="parallelogram">
            <a:avLst>
              <a:gd name="adj" fmla="val 4531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1" name="Google Shape;91;p36"/>
          <p:cNvSpPr txBox="1">
            <a:spLocks noGrp="1"/>
          </p:cNvSpPr>
          <p:nvPr>
            <p:ph type="title"/>
          </p:nvPr>
        </p:nvSpPr>
        <p:spPr>
          <a:xfrm>
            <a:off x="2351599" y="212725"/>
            <a:ext cx="5717580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6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sz="1200" b="0" i="0" u="none" strike="noStrike" cap="none" dirty="0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solidFill>
          <a:schemeClr val="dk2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7"/>
          <p:cNvSpPr txBox="1">
            <a:spLocks noGrp="1"/>
          </p:cNvSpPr>
          <p:nvPr>
            <p:ph type="body" idx="1"/>
          </p:nvPr>
        </p:nvSpPr>
        <p:spPr>
          <a:xfrm>
            <a:off x="747184" y="2634922"/>
            <a:ext cx="10697633" cy="2275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marL="3657600" lvl="7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marL="4114800" lvl="8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>
            <a:endParaRPr/>
          </a:p>
        </p:txBody>
      </p:sp>
      <p:pic>
        <p:nvPicPr>
          <p:cNvPr id="95" name="Google Shape;95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9133" y="392751"/>
            <a:ext cx="3678716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7"/>
          <p:cNvSpPr txBox="1">
            <a:spLocks noGrp="1"/>
          </p:cNvSpPr>
          <p:nvPr>
            <p:ph type="body" idx="2"/>
          </p:nvPr>
        </p:nvSpPr>
        <p:spPr>
          <a:xfrm>
            <a:off x="747184" y="1632286"/>
            <a:ext cx="10697633" cy="6657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0000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marL="3657600" lvl="7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marL="4114800" lvl="8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37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name="adj" fmla="val 4531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7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name="adj" fmla="val 45310"/>
            </a:avLst>
          </a:prstGeom>
          <a:gradFill>
            <a:gsLst>
              <a:gs pos="0">
                <a:schemeClr val="dk2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7"/>
          <p:cNvSpPr/>
          <p:nvPr/>
        </p:nvSpPr>
        <p:spPr>
          <a:xfrm>
            <a:off x="1830633" y="212725"/>
            <a:ext cx="6408499" cy="813000"/>
          </a:xfrm>
          <a:prstGeom prst="parallelogram">
            <a:avLst>
              <a:gd name="adj" fmla="val 4531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00" name="Google Shape;100;p37"/>
          <p:cNvSpPr txBox="1">
            <a:spLocks noGrp="1"/>
          </p:cNvSpPr>
          <p:nvPr>
            <p:ph type="title"/>
          </p:nvPr>
        </p:nvSpPr>
        <p:spPr>
          <a:xfrm>
            <a:off x="2351599" y="212725"/>
            <a:ext cx="5717580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8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name="adj" fmla="val 4531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8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name="adj" fmla="val 45310"/>
            </a:avLst>
          </a:prstGeom>
          <a:gradFill>
            <a:gsLst>
              <a:gs pos="0">
                <a:srgbClr val="FFFFFF"/>
              </a:gs>
              <a:gs pos="65000">
                <a:schemeClr val="accent1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9133" y="389414"/>
            <a:ext cx="3662271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8"/>
          <p:cNvSpPr/>
          <p:nvPr/>
        </p:nvSpPr>
        <p:spPr>
          <a:xfrm>
            <a:off x="1830633" y="212725"/>
            <a:ext cx="6408499" cy="813000"/>
          </a:xfrm>
          <a:prstGeom prst="parallelogram">
            <a:avLst>
              <a:gd name="adj" fmla="val 4531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06" name="Google Shape;106;p38"/>
          <p:cNvSpPr txBox="1">
            <a:spLocks noGrp="1"/>
          </p:cNvSpPr>
          <p:nvPr>
            <p:ph type="title"/>
          </p:nvPr>
        </p:nvSpPr>
        <p:spPr>
          <a:xfrm>
            <a:off x="2351599" y="212725"/>
            <a:ext cx="5717580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8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sz="1200" b="0" i="0" u="none" strike="noStrike" cap="none" dirty="0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9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sz="1200" b="0" i="0" u="none" strike="noStrike" cap="none" dirty="0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6">
  <p:cSld name="Título y objetos 6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0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name="adj" fmla="val 4531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0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name="adj" fmla="val 45310"/>
            </a:avLst>
          </a:prstGeom>
          <a:gradFill>
            <a:gsLst>
              <a:gs pos="0">
                <a:srgbClr val="FFFFFF"/>
              </a:gs>
              <a:gs pos="65000">
                <a:schemeClr val="lt2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9133" y="389414"/>
            <a:ext cx="3662271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0"/>
          <p:cNvSpPr txBox="1">
            <a:spLocks noGrp="1"/>
          </p:cNvSpPr>
          <p:nvPr>
            <p:ph type="body" idx="1"/>
          </p:nvPr>
        </p:nvSpPr>
        <p:spPr>
          <a:xfrm>
            <a:off x="392200" y="1218600"/>
            <a:ext cx="11407600" cy="51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sz="2400" i="0" u="none" strike="noStrike" cap="non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sz="2000" i="0" u="none" strike="noStrik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sz="1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marL="1828800" marR="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sz="1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marL="2743200" marR="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sz="12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marL="3200400" marR="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sz="10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marL="3657600" marR="0" lvl="7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sz="8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marL="4114800" marR="0" lvl="8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sz="60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endParaRPr/>
          </a:p>
        </p:txBody>
      </p:sp>
      <p:sp>
        <p:nvSpPr>
          <p:cNvPr id="115" name="Google Shape;115;p40"/>
          <p:cNvSpPr/>
          <p:nvPr/>
        </p:nvSpPr>
        <p:spPr>
          <a:xfrm>
            <a:off x="1830633" y="212725"/>
            <a:ext cx="6408499" cy="813000"/>
          </a:xfrm>
          <a:prstGeom prst="parallelogram">
            <a:avLst>
              <a:gd name="adj" fmla="val 4531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16" name="Google Shape;116;p40"/>
          <p:cNvSpPr txBox="1">
            <a:spLocks noGrp="1"/>
          </p:cNvSpPr>
          <p:nvPr>
            <p:ph type="title"/>
          </p:nvPr>
        </p:nvSpPr>
        <p:spPr>
          <a:xfrm>
            <a:off x="2351599" y="212725"/>
            <a:ext cx="5717580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40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sz="1200" b="0" i="0" u="none" strike="noStrike" cap="none" dirty="0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Diseño personalizado">
  <p:cSld name="3_Diseño personalizado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41" y="0"/>
            <a:ext cx="1218792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1"/>
          <p:cNvSpPr txBox="1">
            <a:spLocks noGrp="1"/>
          </p:cNvSpPr>
          <p:nvPr>
            <p:ph type="title"/>
          </p:nvPr>
        </p:nvSpPr>
        <p:spPr>
          <a:xfrm>
            <a:off x="4016505" y="4260740"/>
            <a:ext cx="5932243" cy="93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41" y="0"/>
            <a:ext cx="1218792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2"/>
          <p:cNvSpPr txBox="1">
            <a:spLocks noGrp="1"/>
          </p:cNvSpPr>
          <p:nvPr>
            <p:ph type="title"/>
          </p:nvPr>
        </p:nvSpPr>
        <p:spPr>
          <a:xfrm>
            <a:off x="2907441" y="4214532"/>
            <a:ext cx="5932243" cy="93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3"/>
          <p:cNvSpPr txBox="1">
            <a:spLocks noGrp="1"/>
          </p:cNvSpPr>
          <p:nvPr>
            <p:ph type="title"/>
          </p:nvPr>
        </p:nvSpPr>
        <p:spPr>
          <a:xfrm>
            <a:off x="2907441" y="4214532"/>
            <a:ext cx="5932243" cy="93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126" name="Google Shape;126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242"/>
            <a:ext cx="1218792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Only">
  <p:cSld name="2_Title Only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4"/>
          <p:cNvSpPr txBox="1">
            <a:spLocks noGrp="1"/>
          </p:cNvSpPr>
          <p:nvPr>
            <p:ph type="title"/>
          </p:nvPr>
        </p:nvSpPr>
        <p:spPr>
          <a:xfrm>
            <a:off x="2907441" y="4214532"/>
            <a:ext cx="5932243" cy="93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129" name="Google Shape;129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41" y="0"/>
            <a:ext cx="1218792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Diseño personalizado">
  <p:cSld name="8_Diseño personalizado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431" cy="685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5"/>
          <p:cNvSpPr/>
          <p:nvPr/>
        </p:nvSpPr>
        <p:spPr>
          <a:xfrm>
            <a:off x="293939" y="1601757"/>
            <a:ext cx="5999201" cy="1386232"/>
          </a:xfrm>
          <a:prstGeom prst="rect">
            <a:avLst/>
          </a:prstGeom>
          <a:solidFill>
            <a:schemeClr val="dk1">
              <a:alpha val="5882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37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5"/>
          <p:cNvSpPr txBox="1">
            <a:spLocks noGrp="1"/>
          </p:cNvSpPr>
          <p:nvPr>
            <p:ph type="title"/>
          </p:nvPr>
        </p:nvSpPr>
        <p:spPr>
          <a:xfrm>
            <a:off x="558472" y="1828283"/>
            <a:ext cx="5470133" cy="93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45"/>
          <p:cNvSpPr/>
          <p:nvPr/>
        </p:nvSpPr>
        <p:spPr>
          <a:xfrm>
            <a:off x="3900641" y="3874990"/>
            <a:ext cx="7653405" cy="2568339"/>
          </a:xfrm>
          <a:prstGeom prst="rect">
            <a:avLst/>
          </a:prstGeom>
          <a:solidFill>
            <a:schemeClr val="dk1">
              <a:alpha val="5882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37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42"/>
            <a:ext cx="12192431" cy="685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267"/>
            <a:ext cx="12195179" cy="685573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6"/>
          <p:cNvSpPr/>
          <p:nvPr/>
        </p:nvSpPr>
        <p:spPr>
          <a:xfrm>
            <a:off x="458260" y="3798662"/>
            <a:ext cx="5999201" cy="1386232"/>
          </a:xfrm>
          <a:prstGeom prst="rect">
            <a:avLst/>
          </a:prstGeom>
          <a:solidFill>
            <a:schemeClr val="dk1">
              <a:alpha val="5882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37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6"/>
          <p:cNvSpPr txBox="1">
            <a:spLocks noGrp="1"/>
          </p:cNvSpPr>
          <p:nvPr>
            <p:ph type="title"/>
          </p:nvPr>
        </p:nvSpPr>
        <p:spPr>
          <a:xfrm>
            <a:off x="718288" y="3997032"/>
            <a:ext cx="5470133" cy="93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body" idx="1"/>
          </p:nvPr>
        </p:nvSpPr>
        <p:spPr>
          <a:xfrm>
            <a:off x="392200" y="1218600"/>
            <a:ext cx="11407600" cy="51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sz="2400" b="0" i="0" u="none" strike="noStrik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sz="2000" b="0" i="0" u="none" strike="noStrik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sz="1800" b="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sz="1600" b="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sz="1400" b="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sz="1200" b="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marL="3200400" marR="0" lvl="6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sz="1000" b="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sz="800" b="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marL="4114800" marR="0" lvl="8" indent="-2667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sz="600" b="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sldNum" idx="12"/>
          </p:nvPr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dirty="0"/>
          </a:p>
        </p:txBody>
      </p:sp>
      <p:sp>
        <p:nvSpPr>
          <p:cNvPr id="8" name="Google Shape;8;p21"/>
          <p:cNvSpPr txBox="1">
            <a:spLocks noGrp="1"/>
          </p:cNvSpPr>
          <p:nvPr>
            <p:ph type="title"/>
          </p:nvPr>
        </p:nvSpPr>
        <p:spPr>
          <a:xfrm>
            <a:off x="2351600" y="212725"/>
            <a:ext cx="9002400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5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 txBox="1">
            <a:spLocks noGrp="1"/>
          </p:cNvSpPr>
          <p:nvPr>
            <p:ph type="ctrTitle"/>
          </p:nvPr>
        </p:nvSpPr>
        <p:spPr>
          <a:xfrm>
            <a:off x="1742985" y="2688772"/>
            <a:ext cx="6399530" cy="2772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 sz="3600" dirty="0"/>
              <a:t>Especificación de Requisitos de Software: MasterBikes</a:t>
            </a:r>
            <a:br>
              <a:rPr lang="es-ES" sz="3600" dirty="0"/>
            </a:br>
            <a:endParaRPr sz="3600" dirty="0"/>
          </a:p>
        </p:txBody>
      </p:sp>
      <p:sp>
        <p:nvSpPr>
          <p:cNvPr id="145" name="Google Shape;145;p1"/>
          <p:cNvSpPr>
            <a:spLocks noGrp="1"/>
          </p:cNvSpPr>
          <p:nvPr>
            <p:ph type="subTitle" idx="1"/>
          </p:nvPr>
        </p:nvSpPr>
        <p:spPr>
          <a:xfrm>
            <a:off x="1892805" y="5775274"/>
            <a:ext cx="5283748" cy="693523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0" rIns="182875" bIns="0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3600" dirty="0"/>
              <a:t>Ingeniería de Software</a:t>
            </a:r>
            <a:endParaRPr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 txBox="1">
            <a:spLocks noGrp="1"/>
          </p:cNvSpPr>
          <p:nvPr>
            <p:ph type="sldNum" idx="4294967295"/>
          </p:nvPr>
        </p:nvSpPr>
        <p:spPr>
          <a:xfrm>
            <a:off x="1013460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/>
              <a:t>2</a:t>
            </a:fld>
            <a:endParaRPr dirty="0"/>
          </a:p>
        </p:txBody>
      </p:sp>
      <p:sp>
        <p:nvSpPr>
          <p:cNvPr id="161" name="Google Shape;161;p3"/>
          <p:cNvSpPr txBox="1">
            <a:spLocks noGrp="1"/>
          </p:cNvSpPr>
          <p:nvPr>
            <p:ph type="body" idx="4294967295"/>
          </p:nvPr>
        </p:nvSpPr>
        <p:spPr>
          <a:xfrm>
            <a:off x="340713" y="3011446"/>
            <a:ext cx="6096000" cy="2921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Autofit/>
          </a:bodyPr>
          <a:lstStyle/>
          <a:p>
            <a:pPr marL="50800" indent="0">
              <a:buNone/>
            </a:pPr>
            <a:br>
              <a:rPr lang="es-ES" sz="2400" b="1" dirty="0">
                <a:solidFill>
                  <a:schemeClr val="tx1"/>
                </a:solidFill>
              </a:rPr>
            </a:br>
            <a:r>
              <a:rPr lang="es-ES" sz="2400" b="1" dirty="0">
                <a:solidFill>
                  <a:schemeClr val="tx1"/>
                </a:solidFill>
              </a:rPr>
              <a:t>Docente: </a:t>
            </a:r>
            <a:r>
              <a:rPr lang="es-ES" b="1" dirty="0">
                <a:solidFill>
                  <a:schemeClr val="tx1"/>
                </a:solidFill>
              </a:rPr>
              <a:t>José Silva</a:t>
            </a:r>
            <a:br>
              <a:rPr lang="es-ES" sz="2400" b="1" dirty="0">
                <a:solidFill>
                  <a:schemeClr val="tx1"/>
                </a:solidFill>
              </a:rPr>
            </a:br>
            <a:r>
              <a:rPr lang="es-ES" sz="2400" b="1" dirty="0">
                <a:solidFill>
                  <a:schemeClr val="tx1"/>
                </a:solidFill>
              </a:rPr>
              <a:t>Integrantes:</a:t>
            </a:r>
          </a:p>
          <a:p>
            <a:pPr marL="50800" indent="0">
              <a:buNone/>
            </a:pPr>
            <a:br>
              <a:rPr lang="en-US" sz="2400" b="1" dirty="0">
                <a:solidFill>
                  <a:schemeClr val="tx1"/>
                </a:solidFill>
              </a:rPr>
            </a:br>
            <a:r>
              <a:rPr lang="es-ES" b="1" dirty="0">
                <a:solidFill>
                  <a:schemeClr val="tx1"/>
                </a:solidFill>
              </a:rPr>
              <a:t>Hector Águila</a:t>
            </a:r>
            <a:br>
              <a:rPr lang="es-ES" sz="2400" b="1" dirty="0">
                <a:solidFill>
                  <a:schemeClr val="tx1"/>
                </a:solidFill>
              </a:rPr>
            </a:br>
            <a:r>
              <a:rPr lang="es-ES" sz="2400" b="1" dirty="0">
                <a:solidFill>
                  <a:schemeClr val="tx1"/>
                </a:solidFill>
              </a:rPr>
              <a:t>Fabián Lecaros</a:t>
            </a:r>
            <a:br>
              <a:rPr lang="es-ES" sz="2400" b="1" dirty="0">
                <a:solidFill>
                  <a:schemeClr val="tx1"/>
                </a:solidFill>
              </a:rPr>
            </a:br>
            <a:r>
              <a:rPr lang="es-ES" sz="2400" b="1" dirty="0">
                <a:solidFill>
                  <a:schemeClr val="tx1"/>
                </a:solidFill>
              </a:rPr>
              <a:t>Franco Ruz</a:t>
            </a:r>
            <a:endParaRPr lang="es-ES" b="1" dirty="0">
              <a:solidFill>
                <a:schemeClr val="tx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 txBox="1">
            <a:spLocks noGrp="1"/>
          </p:cNvSpPr>
          <p:nvPr>
            <p:ph type="title"/>
          </p:nvPr>
        </p:nvSpPr>
        <p:spPr>
          <a:xfrm>
            <a:off x="4783383" y="4972050"/>
            <a:ext cx="5470133" cy="89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 sz="4000" b="1" dirty="0">
                <a:solidFill>
                  <a:schemeClr val="lt1"/>
                </a:solidFill>
              </a:rPr>
              <a:t>Introducción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1610328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/>
          <p:cNvSpPr txBox="1">
            <a:spLocks noGrp="1"/>
          </p:cNvSpPr>
          <p:nvPr>
            <p:ph type="title"/>
          </p:nvPr>
        </p:nvSpPr>
        <p:spPr>
          <a:xfrm>
            <a:off x="1474901" y="433331"/>
            <a:ext cx="10302421" cy="44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 dirty="0"/>
              <a:t>Entorno de negocio</a:t>
            </a:r>
            <a:endParaRPr dirty="0"/>
          </a:p>
        </p:txBody>
      </p:sp>
      <p:sp>
        <p:nvSpPr>
          <p:cNvPr id="174" name="Google Shape;174;p5"/>
          <p:cNvSpPr txBox="1"/>
          <p:nvPr/>
        </p:nvSpPr>
        <p:spPr>
          <a:xfrm>
            <a:off x="1474901" y="339810"/>
            <a:ext cx="3860670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</a:pPr>
            <a:r>
              <a:rPr lang="es-ES" sz="28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Contexto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2099F4-2E2B-B32A-9D45-A280B2E76246}"/>
              </a:ext>
            </a:extLst>
          </p:cNvPr>
          <p:cNvSpPr txBox="1"/>
          <p:nvPr/>
        </p:nvSpPr>
        <p:spPr>
          <a:xfrm>
            <a:off x="979714" y="2195623"/>
            <a:ext cx="1105988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000" b="1" dirty="0"/>
              <a:t>Contexto del Proyecto – </a:t>
            </a:r>
            <a:r>
              <a:rPr lang="es-ES" sz="2000" b="1" dirty="0" err="1"/>
              <a:t>MasterBikes</a:t>
            </a:r>
            <a:endParaRPr lang="es-ES" sz="2000" b="1" dirty="0"/>
          </a:p>
          <a:p>
            <a:pPr>
              <a:buNone/>
            </a:pPr>
            <a:endParaRPr lang="es-E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Empresa con 30 años de experiencia en fabricación y venta de bicicletas.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Operación manual en ventas, pedidos, stock y reparaciones.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Nueva demanda por servicios de </a:t>
            </a:r>
            <a:r>
              <a:rPr lang="es-ES" sz="2000" b="1" dirty="0"/>
              <a:t>arriendo y reparación</a:t>
            </a:r>
            <a:r>
              <a:rPr lang="es-ES" sz="2000" dirty="0"/>
              <a:t> de bicicletas.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Necesidad de integrarse con proveedores tecnológicos como </a:t>
            </a:r>
            <a:r>
              <a:rPr lang="es-ES" sz="2000" b="1" dirty="0"/>
              <a:t>SHIMANO</a:t>
            </a:r>
            <a:r>
              <a:rPr lang="es-E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Falta de trazabilidad y digitalización limita el crecimiento.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Deciden invertir en una </a:t>
            </a:r>
            <a:r>
              <a:rPr lang="es-ES" sz="2000" b="1" dirty="0"/>
              <a:t>plataforma web moderna</a:t>
            </a:r>
            <a:r>
              <a:rPr lang="es-ES" sz="2000" dirty="0"/>
              <a:t>, cambio de nombre a </a:t>
            </a:r>
            <a:r>
              <a:rPr lang="es-ES" sz="2000" b="1" dirty="0"/>
              <a:t>MasterBikes</a:t>
            </a:r>
            <a:r>
              <a:rPr lang="es-E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dirty="0"/>
              <a:t>Objetivo: </a:t>
            </a:r>
            <a:r>
              <a:rPr lang="es-ES" sz="2000" dirty="0"/>
              <a:t>automatizar procesos, ampliar servicios y mejorar gestión.</a:t>
            </a:r>
          </a:p>
        </p:txBody>
      </p:sp>
    </p:spTree>
    <p:extLst>
      <p:ext uri="{BB962C8B-B14F-4D97-AF65-F5344CB8AC3E}">
        <p14:creationId xmlns:p14="http://schemas.microsoft.com/office/powerpoint/2010/main" val="447210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BE43C2BA-7F6F-BA10-D4C8-55458D190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>
            <a:extLst>
              <a:ext uri="{FF2B5EF4-FFF2-40B4-BE49-F238E27FC236}">
                <a16:creationId xmlns:a16="http://schemas.microsoft.com/office/drawing/2014/main" id="{DE75DAD7-14D3-A602-5CA1-BA62C7F7653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789900" y="547135"/>
            <a:ext cx="5932488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 sz="2800" b="1" dirty="0">
                <a:solidFill>
                  <a:schemeClr val="dk1"/>
                </a:solidFill>
              </a:rPr>
              <a:t>Requisitos de Alto Nivel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EA52C2B-4E55-2D20-5DC4-7B70FDC72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019461"/>
              </p:ext>
            </p:extLst>
          </p:nvPr>
        </p:nvGraphicFramePr>
        <p:xfrm>
          <a:off x="800100" y="1295527"/>
          <a:ext cx="10591799" cy="4722076"/>
        </p:xfrm>
        <a:graphic>
          <a:graphicData uri="http://schemas.openxmlformats.org/drawingml/2006/table">
            <a:tbl>
              <a:tblPr/>
              <a:tblGrid>
                <a:gridCol w="999556">
                  <a:extLst>
                    <a:ext uri="{9D8B030D-6E8A-4147-A177-3AD203B41FA5}">
                      <a16:colId xmlns:a16="http://schemas.microsoft.com/office/drawing/2014/main" val="2315431305"/>
                    </a:ext>
                  </a:extLst>
                </a:gridCol>
                <a:gridCol w="9592243">
                  <a:extLst>
                    <a:ext uri="{9D8B030D-6E8A-4147-A177-3AD203B41FA5}">
                      <a16:colId xmlns:a16="http://schemas.microsoft.com/office/drawing/2014/main" val="4071952375"/>
                    </a:ext>
                  </a:extLst>
                </a:gridCol>
              </a:tblGrid>
              <a:tr h="25306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s-E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ID</a:t>
                      </a:r>
                      <a:endParaRPr lang="es-ES" sz="1400">
                        <a:effectLst/>
                      </a:endParaRPr>
                    </a:p>
                  </a:txBody>
                  <a:tcPr marL="55918" marR="55918" marT="55918" marB="559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s-E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Requisito de Alto Nivel</a:t>
                      </a:r>
                      <a:endParaRPr lang="es-ES" sz="1400">
                        <a:effectLst/>
                      </a:endParaRPr>
                    </a:p>
                  </a:txBody>
                  <a:tcPr marL="55918" marR="55918" marT="55918" marB="559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646552"/>
                  </a:ext>
                </a:extLst>
              </a:tr>
              <a:tr h="397316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RH01</a:t>
                      </a:r>
                      <a:endParaRPr lang="es-ES" sz="1400">
                        <a:effectLst/>
                      </a:endParaRPr>
                    </a:p>
                  </a:txBody>
                  <a:tcPr marL="55918" marR="55918" marT="55918" marB="559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permitir a los clientes registrarse para acceder a servicios como arriendo, reparación y compras.</a:t>
                      </a:r>
                      <a:endParaRPr lang="es-ES" sz="1400">
                        <a:effectLst/>
                      </a:endParaRPr>
                    </a:p>
                  </a:txBody>
                  <a:tcPr marL="55918" marR="55918" marT="55918" marB="559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127690"/>
                  </a:ext>
                </a:extLst>
              </a:tr>
              <a:tr h="397316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RH02</a:t>
                      </a:r>
                      <a:endParaRPr lang="es-ES" sz="1400">
                        <a:effectLst/>
                      </a:endParaRPr>
                    </a:p>
                  </a:txBody>
                  <a:tcPr marL="55918" marR="55918" marT="55918" marB="559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permitir a los clientes solicitar el arriendo de bicicletas indicando tipo, período y forma de pago.</a:t>
                      </a:r>
                      <a:endParaRPr lang="es-ES" sz="1400">
                        <a:effectLst/>
                      </a:endParaRPr>
                    </a:p>
                  </a:txBody>
                  <a:tcPr marL="55918" marR="55918" marT="55918" marB="559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599390"/>
                  </a:ext>
                </a:extLst>
              </a:tr>
              <a:tr h="538528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RH03</a:t>
                      </a:r>
                      <a:endParaRPr lang="es-ES" sz="1400">
                        <a:effectLst/>
                      </a:endParaRPr>
                    </a:p>
                  </a:txBody>
                  <a:tcPr marL="55918" marR="55918" marT="55918" marB="559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permitir a los clientes solicitar el servicio de reparación, seleccionando fecha, hora y detalle del problema.</a:t>
                      </a:r>
                      <a:endParaRPr lang="es-ES" sz="1400" dirty="0">
                        <a:effectLst/>
                      </a:endParaRPr>
                    </a:p>
                  </a:txBody>
                  <a:tcPr marL="55918" marR="55918" marT="55918" marB="559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452008"/>
                  </a:ext>
                </a:extLst>
              </a:tr>
              <a:tr h="397316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RH04</a:t>
                      </a:r>
                      <a:endParaRPr lang="es-ES" sz="1400">
                        <a:effectLst/>
                      </a:endParaRPr>
                    </a:p>
                  </a:txBody>
                  <a:tcPr marL="55918" marR="55918" marT="55918" marB="559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permitir a los técnicos visualizar y gestionar las solicitudes de reparación recibidas.</a:t>
                      </a:r>
                      <a:endParaRPr lang="es-ES" sz="1400">
                        <a:effectLst/>
                      </a:endParaRPr>
                    </a:p>
                  </a:txBody>
                  <a:tcPr marL="55918" marR="55918" marT="55918" marB="559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967284"/>
                  </a:ext>
                </a:extLst>
              </a:tr>
              <a:tr h="397316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RH05</a:t>
                      </a:r>
                      <a:endParaRPr lang="es-ES" sz="1400">
                        <a:effectLst/>
                      </a:endParaRPr>
                    </a:p>
                  </a:txBody>
                  <a:tcPr marL="55918" marR="55918" marT="55918" marB="559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permitir a técnicos y vendedores consultar el stock de productos para apoyar reparaciones y ventas.</a:t>
                      </a:r>
                      <a:endParaRPr lang="es-ES" sz="1400">
                        <a:effectLst/>
                      </a:endParaRPr>
                    </a:p>
                  </a:txBody>
                  <a:tcPr marL="55918" marR="55918" marT="55918" marB="559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015708"/>
                  </a:ext>
                </a:extLst>
              </a:tr>
              <a:tr h="538528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RH06</a:t>
                      </a:r>
                      <a:endParaRPr lang="es-ES" sz="1400">
                        <a:effectLst/>
                      </a:endParaRPr>
                    </a:p>
                  </a:txBody>
                  <a:tcPr marL="55918" marR="55918" marT="55918" marB="559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permitir a los clientes registrados visualizar el estado de sus reparaciones y el historial de mantenciones.</a:t>
                      </a:r>
                      <a:endParaRPr lang="es-ES" sz="1400">
                        <a:effectLst/>
                      </a:endParaRPr>
                    </a:p>
                  </a:txBody>
                  <a:tcPr marL="55918" marR="55918" marT="55918" marB="559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948090"/>
                  </a:ext>
                </a:extLst>
              </a:tr>
              <a:tr h="397316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RH07</a:t>
                      </a:r>
                      <a:endParaRPr lang="es-ES" sz="1400">
                        <a:effectLst/>
                      </a:endParaRPr>
                    </a:p>
                  </a:txBody>
                  <a:tcPr marL="55918" marR="55918" marT="55918" marB="559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permitir realizar seguimiento del estado de despacho de productos desde la empresa al cliente.</a:t>
                      </a:r>
                      <a:endParaRPr lang="es-ES" sz="1400">
                        <a:effectLst/>
                      </a:endParaRPr>
                    </a:p>
                  </a:txBody>
                  <a:tcPr marL="55918" marR="55918" marT="55918" marB="559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226370"/>
                  </a:ext>
                </a:extLst>
              </a:tr>
              <a:tr h="397316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RH08</a:t>
                      </a:r>
                      <a:endParaRPr lang="es-ES" sz="1400">
                        <a:effectLst/>
                      </a:endParaRPr>
                    </a:p>
                  </a:txBody>
                  <a:tcPr marL="55918" marR="55918" marT="55918" marB="559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generar reportes de ventas y servicios para ser consultados por los supervisores de los locales.</a:t>
                      </a:r>
                      <a:endParaRPr lang="es-ES" sz="1400">
                        <a:effectLst/>
                      </a:endParaRPr>
                    </a:p>
                  </a:txBody>
                  <a:tcPr marL="55918" marR="55918" marT="55918" marB="559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012688"/>
                  </a:ext>
                </a:extLst>
              </a:tr>
              <a:tr h="538528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RH09</a:t>
                      </a:r>
                      <a:endParaRPr lang="es-ES" sz="1400">
                        <a:effectLst/>
                      </a:endParaRPr>
                    </a:p>
                  </a:txBody>
                  <a:tcPr marL="55918" marR="55918" marT="55918" marB="559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integrarse con servicios web de proveedores (como SHIMANO) para consultar disponibilidad de insumos.</a:t>
                      </a:r>
                      <a:endParaRPr lang="es-ES" sz="1400">
                        <a:effectLst/>
                      </a:endParaRPr>
                    </a:p>
                  </a:txBody>
                  <a:tcPr marL="55918" marR="55918" marT="55918" marB="559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2519012"/>
                  </a:ext>
                </a:extLst>
              </a:tr>
              <a:tr h="397316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RH10</a:t>
                      </a:r>
                      <a:endParaRPr lang="es-ES" sz="1400">
                        <a:effectLst/>
                      </a:endParaRPr>
                    </a:p>
                  </a:txBody>
                  <a:tcPr marL="55918" marR="55918" marT="55918" marB="559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permitir la promoción de productos y envío de ofertas personalizadas a clientes registrados.</a:t>
                      </a:r>
                      <a:endParaRPr lang="es-ES" sz="1400" dirty="0">
                        <a:effectLst/>
                      </a:endParaRPr>
                    </a:p>
                  </a:txBody>
                  <a:tcPr marL="55918" marR="55918" marT="55918" marB="559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280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084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 txBox="1">
            <a:spLocks noGrp="1"/>
          </p:cNvSpPr>
          <p:nvPr>
            <p:ph type="title" idx="4294967295"/>
          </p:nvPr>
        </p:nvSpPr>
        <p:spPr>
          <a:xfrm>
            <a:off x="4789900" y="547135"/>
            <a:ext cx="5932488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 sz="2800" b="1" dirty="0">
                <a:solidFill>
                  <a:schemeClr val="dk1"/>
                </a:solidFill>
              </a:rPr>
              <a:t>Requisitos Funcionales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607E47F-F5C0-67D3-CB0C-81A9DABDA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820584"/>
              </p:ext>
            </p:extLst>
          </p:nvPr>
        </p:nvGraphicFramePr>
        <p:xfrm>
          <a:off x="990599" y="1292852"/>
          <a:ext cx="10613572" cy="4695825"/>
        </p:xfrm>
        <a:graphic>
          <a:graphicData uri="http://schemas.openxmlformats.org/drawingml/2006/table">
            <a:tbl>
              <a:tblPr/>
              <a:tblGrid>
                <a:gridCol w="980792">
                  <a:extLst>
                    <a:ext uri="{9D8B030D-6E8A-4147-A177-3AD203B41FA5}">
                      <a16:colId xmlns:a16="http://schemas.microsoft.com/office/drawing/2014/main" val="2207126206"/>
                    </a:ext>
                  </a:extLst>
                </a:gridCol>
                <a:gridCol w="9632780">
                  <a:extLst>
                    <a:ext uri="{9D8B030D-6E8A-4147-A177-3AD203B41FA5}">
                      <a16:colId xmlns:a16="http://schemas.microsoft.com/office/drawing/2014/main" val="3898689364"/>
                    </a:ext>
                  </a:extLst>
                </a:gridCol>
              </a:tblGrid>
              <a:tr h="22968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s-E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ID</a:t>
                      </a:r>
                      <a:endParaRPr lang="es-ES" sz="1400">
                        <a:effectLst/>
                      </a:endParaRPr>
                    </a:p>
                  </a:txBody>
                  <a:tcPr marL="52716" marR="52716" marT="52716" marB="5271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s-E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Requisito Funcional</a:t>
                      </a:r>
                      <a:endParaRPr lang="es-ES" sz="1400">
                        <a:effectLst/>
                      </a:endParaRPr>
                    </a:p>
                  </a:txBody>
                  <a:tcPr marL="52716" marR="52716" marT="52716" marB="5271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052962"/>
                  </a:ext>
                </a:extLst>
              </a:tr>
              <a:tr h="488771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RF01</a:t>
                      </a:r>
                      <a:endParaRPr lang="es-ES" sz="1400">
                        <a:effectLst/>
                      </a:endParaRPr>
                    </a:p>
                  </a:txBody>
                  <a:tcPr marL="52716" marR="52716" marT="52716" marB="5271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permitir el registro de nuevos clientes, validando su correo electrónico y enviando una clave temporal.</a:t>
                      </a:r>
                      <a:endParaRPr lang="es-ES" sz="1400">
                        <a:effectLst/>
                      </a:endParaRPr>
                    </a:p>
                  </a:txBody>
                  <a:tcPr marL="52716" marR="52716" marT="52716" marB="5271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1820080"/>
                  </a:ext>
                </a:extLst>
              </a:tr>
              <a:tr h="488771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RF02</a:t>
                      </a:r>
                      <a:endParaRPr lang="es-ES" sz="1400">
                        <a:effectLst/>
                      </a:endParaRPr>
                    </a:p>
                  </a:txBody>
                  <a:tcPr marL="52716" marR="52716" marT="52716" marB="5271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permitir que los clientes realicen solicitudes de arriendo indicando tipo de bicicleta, período y forma de pago.</a:t>
                      </a:r>
                      <a:endParaRPr lang="es-ES" sz="1400">
                        <a:effectLst/>
                      </a:endParaRPr>
                    </a:p>
                  </a:txBody>
                  <a:tcPr marL="52716" marR="52716" marT="52716" marB="5271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376560"/>
                  </a:ext>
                </a:extLst>
              </a:tr>
              <a:tr h="488771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RF03</a:t>
                      </a:r>
                      <a:endParaRPr lang="es-ES" sz="1400">
                        <a:effectLst/>
                      </a:endParaRPr>
                    </a:p>
                  </a:txBody>
                  <a:tcPr marL="52716" marR="52716" marT="52716" marB="5271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permitir que los clientes agenden reparaciones indicando fecha, hora y descripción del problema.</a:t>
                      </a:r>
                      <a:endParaRPr lang="es-ES" sz="1400">
                        <a:effectLst/>
                      </a:endParaRPr>
                    </a:p>
                  </a:txBody>
                  <a:tcPr marL="52716" marR="52716" marT="52716" marB="5271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326820"/>
                  </a:ext>
                </a:extLst>
              </a:tr>
              <a:tr h="488771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RF04</a:t>
                      </a:r>
                      <a:endParaRPr lang="es-ES" sz="1400">
                        <a:effectLst/>
                      </a:endParaRPr>
                    </a:p>
                  </a:txBody>
                  <a:tcPr marL="52716" marR="52716" marT="52716" marB="5271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permitir que los técnicos visualicen las solicitudes de reparación y confirmen su viabilidad mediante correo electrónico.</a:t>
                      </a:r>
                      <a:endParaRPr lang="es-ES" sz="1400">
                        <a:effectLst/>
                      </a:endParaRPr>
                    </a:p>
                  </a:txBody>
                  <a:tcPr marL="52716" marR="52716" marT="52716" marB="5271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77913"/>
                  </a:ext>
                </a:extLst>
              </a:tr>
              <a:tr h="360607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RF05</a:t>
                      </a:r>
                      <a:endParaRPr lang="es-ES" sz="1400">
                        <a:effectLst/>
                      </a:endParaRPr>
                    </a:p>
                  </a:txBody>
                  <a:tcPr marL="52716" marR="52716" marT="52716" marB="5271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permitir a los técnicos y vendedores consultar el stock disponible por tipo de producto.</a:t>
                      </a:r>
                      <a:endParaRPr lang="es-ES" sz="1400">
                        <a:effectLst/>
                      </a:endParaRPr>
                    </a:p>
                  </a:txBody>
                  <a:tcPr marL="52716" marR="52716" marT="52716" marB="5271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402825"/>
                  </a:ext>
                </a:extLst>
              </a:tr>
              <a:tr h="360607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RF06</a:t>
                      </a:r>
                      <a:endParaRPr lang="es-ES" sz="1400">
                        <a:effectLst/>
                      </a:endParaRPr>
                    </a:p>
                  </a:txBody>
                  <a:tcPr marL="52716" marR="52716" marT="52716" marB="5271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permitir a los clientes consultar el estado de una reparación y ver su historial de mantenciones.</a:t>
                      </a:r>
                      <a:endParaRPr lang="es-ES" sz="1400">
                        <a:effectLst/>
                      </a:endParaRPr>
                    </a:p>
                  </a:txBody>
                  <a:tcPr marL="52716" marR="52716" marT="52716" marB="5271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327929"/>
                  </a:ext>
                </a:extLst>
              </a:tr>
              <a:tr h="488771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RF07</a:t>
                      </a:r>
                      <a:endParaRPr lang="es-ES" sz="1400">
                        <a:effectLst/>
                      </a:endParaRPr>
                    </a:p>
                  </a:txBody>
                  <a:tcPr marL="52716" marR="52716" marT="52716" marB="5271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permitir generar y consultar el estado de despacho de productos, incluyendo fechas y estados (pedido, despachado, entregado).</a:t>
                      </a:r>
                      <a:endParaRPr lang="es-ES" sz="1400" dirty="0">
                        <a:effectLst/>
                      </a:endParaRPr>
                    </a:p>
                  </a:txBody>
                  <a:tcPr marL="52716" marR="52716" marT="52716" marB="5271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539292"/>
                  </a:ext>
                </a:extLst>
              </a:tr>
              <a:tr h="360607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RF08</a:t>
                      </a:r>
                      <a:endParaRPr lang="es-ES" sz="1400">
                        <a:effectLst/>
                      </a:endParaRPr>
                    </a:p>
                  </a:txBody>
                  <a:tcPr marL="52716" marR="52716" marT="52716" marB="5271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permitir a los supervisores generar reportes de ventas y servicios diarios o por período personalizado.</a:t>
                      </a:r>
                      <a:endParaRPr lang="es-ES" sz="1400">
                        <a:effectLst/>
                      </a:endParaRPr>
                    </a:p>
                  </a:txBody>
                  <a:tcPr marL="52716" marR="52716" marT="52716" marB="5271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099254"/>
                  </a:ext>
                </a:extLst>
              </a:tr>
              <a:tr h="360607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RF09</a:t>
                      </a:r>
                      <a:endParaRPr lang="es-ES" sz="1400">
                        <a:effectLst/>
                      </a:endParaRPr>
                    </a:p>
                  </a:txBody>
                  <a:tcPr marL="52716" marR="52716" marT="52716" marB="5271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permitir consultar la disponibilidad de piezas a través de servicios web externos (ej. SHIMANO).</a:t>
                      </a:r>
                      <a:endParaRPr lang="es-ES" sz="1400" dirty="0">
                        <a:effectLst/>
                      </a:endParaRPr>
                    </a:p>
                  </a:txBody>
                  <a:tcPr marL="52716" marR="52716" marT="52716" marB="5271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991323"/>
                  </a:ext>
                </a:extLst>
              </a:tr>
              <a:tr h="360607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RF10</a:t>
                      </a:r>
                      <a:endParaRPr lang="es-ES" sz="1400">
                        <a:effectLst/>
                      </a:endParaRPr>
                    </a:p>
                  </a:txBody>
                  <a:tcPr marL="52716" marR="52716" marT="52716" marB="5271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permitir el envío automatizado de ofertas y promociones personalizadas a clientes registrados.</a:t>
                      </a:r>
                      <a:endParaRPr lang="es-ES" sz="1400" dirty="0">
                        <a:effectLst/>
                      </a:endParaRPr>
                    </a:p>
                  </a:txBody>
                  <a:tcPr marL="52716" marR="52716" marT="52716" marB="5271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8925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8444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E6CED3F7-655E-6903-1FAF-FED91D03D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>
            <a:extLst>
              <a:ext uri="{FF2B5EF4-FFF2-40B4-BE49-F238E27FC236}">
                <a16:creationId xmlns:a16="http://schemas.microsoft.com/office/drawing/2014/main" id="{2F97712A-240C-2BD5-DF17-E3B90FF20FF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789900" y="547135"/>
            <a:ext cx="5932488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 sz="2800" b="1" dirty="0">
                <a:solidFill>
                  <a:schemeClr val="dk1"/>
                </a:solidFill>
              </a:rPr>
              <a:t>Requisitos No Funcionales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9E57442-6624-3142-ED69-86931DB2B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998256"/>
              </p:ext>
            </p:extLst>
          </p:nvPr>
        </p:nvGraphicFramePr>
        <p:xfrm>
          <a:off x="827315" y="1173715"/>
          <a:ext cx="10885714" cy="4815612"/>
        </p:xfrm>
        <a:graphic>
          <a:graphicData uri="http://schemas.openxmlformats.org/drawingml/2006/table">
            <a:tbl>
              <a:tblPr/>
              <a:tblGrid>
                <a:gridCol w="1247699">
                  <a:extLst>
                    <a:ext uri="{9D8B030D-6E8A-4147-A177-3AD203B41FA5}">
                      <a16:colId xmlns:a16="http://schemas.microsoft.com/office/drawing/2014/main" val="1567286256"/>
                    </a:ext>
                  </a:extLst>
                </a:gridCol>
                <a:gridCol w="9638015">
                  <a:extLst>
                    <a:ext uri="{9D8B030D-6E8A-4147-A177-3AD203B41FA5}">
                      <a16:colId xmlns:a16="http://schemas.microsoft.com/office/drawing/2014/main" val="3338038733"/>
                    </a:ext>
                  </a:extLst>
                </a:gridCol>
              </a:tblGrid>
              <a:tr h="23466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ID</a:t>
                      </a:r>
                      <a:endParaRPr lang="es-ES" sz="1400" dirty="0">
                        <a:effectLst/>
                      </a:endParaRPr>
                    </a:p>
                  </a:txBody>
                  <a:tcPr marL="51248" marR="51248" marT="51248" marB="512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s-E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Requisito No Funcional</a:t>
                      </a:r>
                      <a:endParaRPr lang="es-ES" sz="1400">
                        <a:effectLst/>
                      </a:endParaRPr>
                    </a:p>
                  </a:txBody>
                  <a:tcPr marL="51248" marR="51248" marT="51248" marB="512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292144"/>
                  </a:ext>
                </a:extLst>
              </a:tr>
              <a:tr h="499368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RNF01</a:t>
                      </a:r>
                      <a:endParaRPr lang="es-ES" sz="1400">
                        <a:effectLst/>
                      </a:endParaRPr>
                    </a:p>
                  </a:txBody>
                  <a:tcPr marL="51248" marR="51248" marT="51248" marB="512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estar disponible un mínimo del 99% del tiempo, excepto en horarios programados de mantenimiento.</a:t>
                      </a:r>
                      <a:endParaRPr lang="es-ES" sz="1400" dirty="0">
                        <a:effectLst/>
                      </a:endParaRPr>
                    </a:p>
                  </a:txBody>
                  <a:tcPr marL="51248" marR="51248" marT="51248" marB="512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315153"/>
                  </a:ext>
                </a:extLst>
              </a:tr>
              <a:tr h="499368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RNF02</a:t>
                      </a:r>
                      <a:endParaRPr lang="es-ES" sz="1400">
                        <a:effectLst/>
                      </a:endParaRPr>
                    </a:p>
                  </a:txBody>
                  <a:tcPr marL="51248" marR="51248" marT="51248" marB="512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tiempo de respuesta del sistema ante una solicitud del usuario no debe exceder 2 segundos en operaciones comunes.</a:t>
                      </a:r>
                      <a:endParaRPr lang="es-ES" sz="1400" dirty="0">
                        <a:effectLst/>
                      </a:endParaRPr>
                    </a:p>
                  </a:txBody>
                  <a:tcPr marL="51248" marR="51248" marT="51248" marB="512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964415"/>
                  </a:ext>
                </a:extLst>
              </a:tr>
              <a:tr h="368425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RNF03</a:t>
                      </a:r>
                      <a:endParaRPr lang="es-ES" sz="1400">
                        <a:effectLst/>
                      </a:endParaRPr>
                    </a:p>
                  </a:txBody>
                  <a:tcPr marL="51248" marR="51248" marT="51248" marB="512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ser accesible mediante navegadores modernos (Chrome, Firefox, Edge, Safari).</a:t>
                      </a:r>
                      <a:endParaRPr lang="es-ES" sz="1400">
                        <a:effectLst/>
                      </a:endParaRPr>
                    </a:p>
                  </a:txBody>
                  <a:tcPr marL="51248" marR="51248" marT="51248" marB="512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337005"/>
                  </a:ext>
                </a:extLst>
              </a:tr>
              <a:tr h="368425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RNF04</a:t>
                      </a:r>
                      <a:endParaRPr lang="es-ES" sz="1400">
                        <a:effectLst/>
                      </a:endParaRPr>
                    </a:p>
                  </a:txBody>
                  <a:tcPr marL="51248" marR="51248" marT="51248" marB="512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Los datos personales y transaccionales deben ser almacenados de forma segura y cifrada.</a:t>
                      </a:r>
                      <a:endParaRPr lang="es-ES" sz="1400" dirty="0">
                        <a:effectLst/>
                      </a:endParaRPr>
                    </a:p>
                  </a:txBody>
                  <a:tcPr marL="51248" marR="51248" marT="51248" marB="512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413199"/>
                  </a:ext>
                </a:extLst>
              </a:tr>
              <a:tr h="499368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RNF05</a:t>
                      </a:r>
                      <a:endParaRPr lang="es-ES" sz="1400">
                        <a:effectLst/>
                      </a:endParaRPr>
                    </a:p>
                  </a:txBody>
                  <a:tcPr marL="51248" marR="51248" marT="51248" marB="512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estar diseñado bajo principios de usabilidad, permitiendo navegación simple y comprensión intuitiva.</a:t>
                      </a:r>
                      <a:endParaRPr lang="es-ES" sz="1400">
                        <a:effectLst/>
                      </a:endParaRPr>
                    </a:p>
                  </a:txBody>
                  <a:tcPr marL="51248" marR="51248" marT="51248" marB="512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875905"/>
                  </a:ext>
                </a:extLst>
              </a:tr>
              <a:tr h="499368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RNF06</a:t>
                      </a:r>
                      <a:endParaRPr lang="es-ES" sz="1400">
                        <a:effectLst/>
                      </a:endParaRPr>
                    </a:p>
                  </a:txBody>
                  <a:tcPr marL="51248" marR="51248" marT="51248" marB="512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estar desarrollado utilizando una arquitectura modular que permita su mantenimiento y escalabilidad.</a:t>
                      </a:r>
                      <a:endParaRPr lang="es-ES" sz="1400" dirty="0">
                        <a:effectLst/>
                      </a:endParaRPr>
                    </a:p>
                  </a:txBody>
                  <a:tcPr marL="51248" marR="51248" marT="51248" marB="512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777750"/>
                  </a:ext>
                </a:extLst>
              </a:tr>
              <a:tr h="368425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RNF07</a:t>
                      </a:r>
                      <a:endParaRPr lang="es-ES" sz="1400">
                        <a:effectLst/>
                      </a:endParaRPr>
                    </a:p>
                  </a:txBody>
                  <a:tcPr marL="51248" marR="51248" marT="51248" marB="512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tener la capacidad de soportar hasta 100 usuarios concurrentes sin degradar el rendimiento.</a:t>
                      </a:r>
                      <a:endParaRPr lang="es-ES" sz="1400" dirty="0">
                        <a:effectLst/>
                      </a:endParaRPr>
                    </a:p>
                  </a:txBody>
                  <a:tcPr marL="51248" marR="51248" marT="51248" marB="512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4280745"/>
                  </a:ext>
                </a:extLst>
              </a:tr>
              <a:tr h="499368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RNF08</a:t>
                      </a:r>
                      <a:endParaRPr lang="es-ES" sz="1400">
                        <a:effectLst/>
                      </a:endParaRPr>
                    </a:p>
                  </a:txBody>
                  <a:tcPr marL="51248" marR="51248" marT="51248" marB="512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contar con un mecanismo de recuperación ante fallos, con respaldo automático diario de la base de datos.</a:t>
                      </a:r>
                      <a:endParaRPr lang="es-ES" sz="1400" dirty="0">
                        <a:effectLst/>
                      </a:endParaRPr>
                    </a:p>
                  </a:txBody>
                  <a:tcPr marL="51248" marR="51248" marT="51248" marB="512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8343895"/>
                  </a:ext>
                </a:extLst>
              </a:tr>
              <a:tr h="368425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RNF09</a:t>
                      </a:r>
                      <a:endParaRPr lang="es-ES" sz="1400">
                        <a:effectLst/>
                      </a:endParaRPr>
                    </a:p>
                  </a:txBody>
                  <a:tcPr marL="51248" marR="51248" marT="51248" marB="512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 sistema debe emitir mensajes de error comprensibles para el usuario final ante entradas incorrectas o fallos.</a:t>
                      </a:r>
                      <a:endParaRPr lang="es-ES" sz="1400" dirty="0">
                        <a:effectLst/>
                      </a:endParaRPr>
                    </a:p>
                  </a:txBody>
                  <a:tcPr marL="51248" marR="51248" marT="51248" marB="512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391404"/>
                  </a:ext>
                </a:extLst>
              </a:tr>
              <a:tr h="499368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RNF10</a:t>
                      </a:r>
                      <a:endParaRPr lang="es-ES" sz="1400">
                        <a:effectLst/>
                      </a:endParaRPr>
                    </a:p>
                  </a:txBody>
                  <a:tcPr marL="51248" marR="51248" marT="51248" marB="512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Toda acción relevante del usuario (registro, pago, solicitud, cambio de estado) debe ser registrada en un log seguro.</a:t>
                      </a:r>
                      <a:endParaRPr lang="es-ES" sz="1400" dirty="0">
                        <a:effectLst/>
                      </a:endParaRPr>
                    </a:p>
                  </a:txBody>
                  <a:tcPr marL="51248" marR="51248" marT="51248" marB="512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353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728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EF4F05BC-0AE5-A46D-216B-9D605B459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>
            <a:extLst>
              <a:ext uri="{FF2B5EF4-FFF2-40B4-BE49-F238E27FC236}">
                <a16:creationId xmlns:a16="http://schemas.microsoft.com/office/drawing/2014/main" id="{0743C40B-66D2-810B-950F-63982FB4B4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74901" y="433331"/>
            <a:ext cx="10302421" cy="44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 dirty="0"/>
              <a:t>Entorno de negocio</a:t>
            </a:r>
            <a:endParaRPr dirty="0"/>
          </a:p>
        </p:txBody>
      </p:sp>
      <p:sp>
        <p:nvSpPr>
          <p:cNvPr id="174" name="Google Shape;174;p5">
            <a:extLst>
              <a:ext uri="{FF2B5EF4-FFF2-40B4-BE49-F238E27FC236}">
                <a16:creationId xmlns:a16="http://schemas.microsoft.com/office/drawing/2014/main" id="{F344DEBB-1B50-FB4D-DE98-0865E40ED299}"/>
              </a:ext>
            </a:extLst>
          </p:cNvPr>
          <p:cNvSpPr txBox="1"/>
          <p:nvPr/>
        </p:nvSpPr>
        <p:spPr>
          <a:xfrm>
            <a:off x="1474901" y="339810"/>
            <a:ext cx="9160442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</a:pPr>
            <a:r>
              <a:rPr lang="es-ES" sz="28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Propuesta de Solución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E02FDC-07E4-0ED3-9392-D98EBE09BC9E}"/>
              </a:ext>
            </a:extLst>
          </p:cNvPr>
          <p:cNvSpPr txBox="1"/>
          <p:nvPr/>
        </p:nvSpPr>
        <p:spPr>
          <a:xfrm>
            <a:off x="1284514" y="1488053"/>
            <a:ext cx="992777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Sistema desarrollado desde cero para digitalizar procesos de venta, arriendo, reparación y stock.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Arquitectura modular basada en microservicios Java Spring </a:t>
            </a:r>
            <a:r>
              <a:rPr lang="es-ES" sz="2000" dirty="0" err="1"/>
              <a:t>Boot</a:t>
            </a:r>
            <a:r>
              <a:rPr lang="es-ES" sz="2000" dirty="0"/>
              <a:t>, conectados a Oracle DB y desplegados en AWS.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Plataforma web con acceso personalizado para clientes, técnicos, vendedores y supervisores.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Funcionalidades clave: gestión de usuarios, arriendos, reparaciones, historial, pedidos, stock, despachos, promociones y reportes.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Integración con proveedores como SHIMANO para mejorar logística.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Escalable y preparado para integrar servicios futuros como pagos o facturación electrónica.</a:t>
            </a:r>
          </a:p>
        </p:txBody>
      </p:sp>
    </p:spTree>
    <p:extLst>
      <p:ext uri="{BB962C8B-B14F-4D97-AF65-F5344CB8AC3E}">
        <p14:creationId xmlns:p14="http://schemas.microsoft.com/office/powerpoint/2010/main" val="983053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EF4F05BC-0AE5-A46D-216B-9D605B459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>
            <a:extLst>
              <a:ext uri="{FF2B5EF4-FFF2-40B4-BE49-F238E27FC236}">
                <a16:creationId xmlns:a16="http://schemas.microsoft.com/office/drawing/2014/main" id="{0743C40B-66D2-810B-950F-63982FB4B4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74901" y="433331"/>
            <a:ext cx="10302421" cy="44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 dirty="0"/>
              <a:t>Entorno de negocio</a:t>
            </a:r>
            <a:endParaRPr dirty="0"/>
          </a:p>
        </p:txBody>
      </p:sp>
      <p:sp>
        <p:nvSpPr>
          <p:cNvPr id="174" name="Google Shape;174;p5">
            <a:extLst>
              <a:ext uri="{FF2B5EF4-FFF2-40B4-BE49-F238E27FC236}">
                <a16:creationId xmlns:a16="http://schemas.microsoft.com/office/drawing/2014/main" id="{F344DEBB-1B50-FB4D-DE98-0865E40ED299}"/>
              </a:ext>
            </a:extLst>
          </p:cNvPr>
          <p:cNvSpPr txBox="1"/>
          <p:nvPr/>
        </p:nvSpPr>
        <p:spPr>
          <a:xfrm>
            <a:off x="1474901" y="339810"/>
            <a:ext cx="9160442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</a:pPr>
            <a:r>
              <a:rPr lang="es-ES" sz="28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Propuesta de Solución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E02FDC-07E4-0ED3-9392-D98EBE09BC9E}"/>
              </a:ext>
            </a:extLst>
          </p:cNvPr>
          <p:cNvSpPr txBox="1"/>
          <p:nvPr/>
        </p:nvSpPr>
        <p:spPr>
          <a:xfrm>
            <a:off x="1284514" y="1488053"/>
            <a:ext cx="992777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Sistema desarrollado desde cero para digitalizar procesos de venta, arriendo, reparación y stock.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Arquitectura modular basada en microservicios Java Spring </a:t>
            </a:r>
            <a:r>
              <a:rPr lang="es-ES" sz="2000" dirty="0" err="1"/>
              <a:t>Boot</a:t>
            </a:r>
            <a:r>
              <a:rPr lang="es-ES" sz="2000" dirty="0"/>
              <a:t>, conectados a Oracle DB y desplegados en AWS.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Plataforma web con acceso personalizado para clientes, técnicos, vendedores y supervisores.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Funcionalidades clave: gestión de usuarios, arriendos, reparaciones, historial, pedidos, stock, despachos, promociones y reportes.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Integración con proveedores como SHIMANO para mejorar logística.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Escalable y preparado para integrar servicios futuros como pagos o facturación electrónica.</a:t>
            </a:r>
          </a:p>
        </p:txBody>
      </p:sp>
    </p:spTree>
    <p:extLst>
      <p:ext uri="{BB962C8B-B14F-4D97-AF65-F5344CB8AC3E}">
        <p14:creationId xmlns:p14="http://schemas.microsoft.com/office/powerpoint/2010/main" val="3217984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207BD47B-D202-4BD7-B784-B537F94FD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>
            <a:extLst>
              <a:ext uri="{FF2B5EF4-FFF2-40B4-BE49-F238E27FC236}">
                <a16:creationId xmlns:a16="http://schemas.microsoft.com/office/drawing/2014/main" id="{27D6BEE7-0D37-D56A-72EB-D73BCCF04D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74901" y="433331"/>
            <a:ext cx="10302421" cy="44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 dirty="0"/>
              <a:t>Entorno de negocio</a:t>
            </a:r>
            <a:endParaRPr dirty="0"/>
          </a:p>
        </p:txBody>
      </p:sp>
      <p:sp>
        <p:nvSpPr>
          <p:cNvPr id="174" name="Google Shape;174;p5">
            <a:extLst>
              <a:ext uri="{FF2B5EF4-FFF2-40B4-BE49-F238E27FC236}">
                <a16:creationId xmlns:a16="http://schemas.microsoft.com/office/drawing/2014/main" id="{57EB5E16-AC16-727A-6941-27F17F558D0C}"/>
              </a:ext>
            </a:extLst>
          </p:cNvPr>
          <p:cNvSpPr txBox="1"/>
          <p:nvPr/>
        </p:nvSpPr>
        <p:spPr>
          <a:xfrm>
            <a:off x="1474901" y="339810"/>
            <a:ext cx="9160442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</a:pPr>
            <a:r>
              <a:rPr lang="es-ES" sz="28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Propuesta de Solución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FBEE74A-1C99-614C-2D2C-6A7701ABA2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50024"/>
              </p:ext>
            </p:extLst>
          </p:nvPr>
        </p:nvGraphicFramePr>
        <p:xfrm>
          <a:off x="1121229" y="1246330"/>
          <a:ext cx="10302421" cy="4544871"/>
        </p:xfrm>
        <a:graphic>
          <a:graphicData uri="http://schemas.openxmlformats.org/drawingml/2006/table">
            <a:tbl>
              <a:tblPr/>
              <a:tblGrid>
                <a:gridCol w="2977777">
                  <a:extLst>
                    <a:ext uri="{9D8B030D-6E8A-4147-A177-3AD203B41FA5}">
                      <a16:colId xmlns:a16="http://schemas.microsoft.com/office/drawing/2014/main" val="1730124345"/>
                    </a:ext>
                  </a:extLst>
                </a:gridCol>
                <a:gridCol w="7324644">
                  <a:extLst>
                    <a:ext uri="{9D8B030D-6E8A-4147-A177-3AD203B41FA5}">
                      <a16:colId xmlns:a16="http://schemas.microsoft.com/office/drawing/2014/main" val="722433762"/>
                    </a:ext>
                  </a:extLst>
                </a:gridCol>
              </a:tblGrid>
              <a:tr h="48308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s-E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Microservicio</a:t>
                      </a:r>
                      <a:endParaRPr lang="es-ES" sz="20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s-E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Descripción funcional principal</a:t>
                      </a:r>
                      <a:endParaRPr lang="es-ES" sz="20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0868521"/>
                  </a:ext>
                </a:extLst>
              </a:tr>
              <a:tr h="758445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Auth-Service</a:t>
                      </a:r>
                      <a:endParaRPr lang="es-ES" sz="20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Gestiona el registro de clientes, autenticación con JWT y recuperación de credenciales.</a:t>
                      </a:r>
                      <a:endParaRPr lang="es-ES" sz="20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631897"/>
                  </a:ext>
                </a:extLst>
              </a:tr>
              <a:tr h="758445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Bicicletas-Service</a:t>
                      </a:r>
                      <a:endParaRPr lang="es-ES" sz="20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Permite crear solicitudes de arriendo, reparación y consultar stock disponible.</a:t>
                      </a:r>
                      <a:endParaRPr lang="es-ES" sz="20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39534"/>
                  </a:ext>
                </a:extLst>
              </a:tr>
              <a:tr h="758445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Pedidos-Service</a:t>
                      </a:r>
                      <a:endParaRPr lang="es-ES" sz="20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Administra el seguimiento de pedidos y despachos hacia los clientes registrados.</a:t>
                      </a:r>
                      <a:endParaRPr lang="es-ES" sz="20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4141742"/>
                  </a:ext>
                </a:extLst>
              </a:tr>
              <a:tr h="758445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Reportes-Service</a:t>
                      </a:r>
                      <a:endParaRPr lang="es-ES" sz="20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Genera informes de ventas, servicios y actividad general para los supervisores.</a:t>
                      </a:r>
                      <a:endParaRPr lang="es-ES" sz="20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8037853"/>
                  </a:ext>
                </a:extLst>
              </a:tr>
              <a:tr h="1028006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Integración-Proveedor</a:t>
                      </a:r>
                      <a:endParaRPr lang="es-ES" sz="20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(Opcional) Consulta la disponibilidad de insumos a través de un servicio REST externo (ej. SHIMANO).</a:t>
                      </a:r>
                      <a:endParaRPr lang="es-ES" sz="20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650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137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953C12F0-F31F-53B7-BC13-A06D3D138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>
            <a:extLst>
              <a:ext uri="{FF2B5EF4-FFF2-40B4-BE49-F238E27FC236}">
                <a16:creationId xmlns:a16="http://schemas.microsoft.com/office/drawing/2014/main" id="{9097BBCE-9079-C9D8-350D-1C4FAC259E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74901" y="433331"/>
            <a:ext cx="10302421" cy="44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 dirty="0"/>
              <a:t>Entorno de negocio</a:t>
            </a:r>
            <a:endParaRPr dirty="0"/>
          </a:p>
        </p:txBody>
      </p:sp>
      <p:sp>
        <p:nvSpPr>
          <p:cNvPr id="174" name="Google Shape;174;p5">
            <a:extLst>
              <a:ext uri="{FF2B5EF4-FFF2-40B4-BE49-F238E27FC236}">
                <a16:creationId xmlns:a16="http://schemas.microsoft.com/office/drawing/2014/main" id="{7EEAEF52-CEF3-6577-1196-05946BA5DA0F}"/>
              </a:ext>
            </a:extLst>
          </p:cNvPr>
          <p:cNvSpPr txBox="1"/>
          <p:nvPr/>
        </p:nvSpPr>
        <p:spPr>
          <a:xfrm>
            <a:off x="1474901" y="339810"/>
            <a:ext cx="3860670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</a:pPr>
            <a:r>
              <a:rPr lang="es-ES" sz="28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Fases del Proyecto</a:t>
            </a:r>
            <a:endParaRPr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A75C25-41D0-30AD-8152-A637A274B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69950"/>
              </p:ext>
            </p:extLst>
          </p:nvPr>
        </p:nvGraphicFramePr>
        <p:xfrm>
          <a:off x="1474901" y="881258"/>
          <a:ext cx="10058403" cy="5411852"/>
        </p:xfrm>
        <a:graphic>
          <a:graphicData uri="http://schemas.openxmlformats.org/drawingml/2006/table">
            <a:tbl>
              <a:tblPr/>
              <a:tblGrid>
                <a:gridCol w="1799752">
                  <a:extLst>
                    <a:ext uri="{9D8B030D-6E8A-4147-A177-3AD203B41FA5}">
                      <a16:colId xmlns:a16="http://schemas.microsoft.com/office/drawing/2014/main" val="2746184271"/>
                    </a:ext>
                  </a:extLst>
                </a:gridCol>
                <a:gridCol w="1552804">
                  <a:extLst>
                    <a:ext uri="{9D8B030D-6E8A-4147-A177-3AD203B41FA5}">
                      <a16:colId xmlns:a16="http://schemas.microsoft.com/office/drawing/2014/main" val="2120299609"/>
                    </a:ext>
                  </a:extLst>
                </a:gridCol>
                <a:gridCol w="1552804">
                  <a:extLst>
                    <a:ext uri="{9D8B030D-6E8A-4147-A177-3AD203B41FA5}">
                      <a16:colId xmlns:a16="http://schemas.microsoft.com/office/drawing/2014/main" val="2218900385"/>
                    </a:ext>
                  </a:extLst>
                </a:gridCol>
                <a:gridCol w="5153043">
                  <a:extLst>
                    <a:ext uri="{9D8B030D-6E8A-4147-A177-3AD203B41FA5}">
                      <a16:colId xmlns:a16="http://schemas.microsoft.com/office/drawing/2014/main" val="1639588614"/>
                    </a:ext>
                  </a:extLst>
                </a:gridCol>
              </a:tblGrid>
              <a:tr h="155671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Fase / Actividad</a:t>
                      </a:r>
                      <a:endParaRPr lang="es-ES" sz="1400" dirty="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s-E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Inicio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s-E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Fin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s-E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Duración / Notas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0215197"/>
                  </a:ext>
                </a:extLst>
              </a:tr>
              <a:tr h="21794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Inicio del Proyecto</a:t>
                      </a:r>
                      <a:endParaRPr lang="es-ES" sz="1400" dirty="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2025-04-21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2025-04-22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días – Definición de alcance inicial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4270315"/>
                  </a:ext>
                </a:extLst>
              </a:tr>
              <a:tr h="342477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Análisis de Requisitos</a:t>
                      </a:r>
                      <a:endParaRPr lang="es-ES" sz="1400" dirty="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2025-04-23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2025-04-27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días – Revisión del caso, requisitos altos y específicos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746707"/>
                  </a:ext>
                </a:extLst>
              </a:tr>
              <a:tr h="404745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Diseño del Sistema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2025-04-24</a:t>
                      </a:r>
                      <a:endParaRPr lang="es-ES" sz="1400" dirty="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2025-05-01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 días – Diseño de microservicios, arquitectura y prototipos básicos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344444"/>
                  </a:ext>
                </a:extLst>
              </a:tr>
              <a:tr h="280208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Sprint 1 – Análisis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2025-05-02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2025-05-03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días – Revisión funcional inicial de historias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540702"/>
                  </a:ext>
                </a:extLst>
              </a:tr>
              <a:tr h="21794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Sprint 1 – Desarrollo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2025-05-04</a:t>
                      </a:r>
                      <a:endParaRPr lang="es-ES" sz="1400" dirty="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2025-05-13</a:t>
                      </a:r>
                      <a:endParaRPr lang="es-ES" sz="1400" dirty="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 días – Arriendo y pedidos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82015"/>
                  </a:ext>
                </a:extLst>
              </a:tr>
              <a:tr h="280208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Sprint 1 – Pruebas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2025-05-14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2025-05-15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días – Validación funcional y técnica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07752"/>
                  </a:ext>
                </a:extLst>
              </a:tr>
              <a:tr h="280208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Sprint 2 – Análisis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2025-05-14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2025-05-15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días – Revisión de historias de reparación</a:t>
                      </a:r>
                      <a:endParaRPr lang="es-ES" sz="1400" dirty="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537529"/>
                  </a:ext>
                </a:extLst>
              </a:tr>
              <a:tr h="21794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Sprint 2 – Desarrollo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2025-05-16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2025-05-25</a:t>
                      </a:r>
                      <a:endParaRPr lang="es-ES" sz="1400" dirty="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 días – Funcionalidades técnicas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173200"/>
                  </a:ext>
                </a:extLst>
              </a:tr>
              <a:tr h="21794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Sprint 2 – Pruebas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2025-05-26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2025-05-27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días – Validación técnica</a:t>
                      </a:r>
                      <a:endParaRPr lang="es-ES" sz="1400" dirty="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291472"/>
                  </a:ext>
                </a:extLst>
              </a:tr>
              <a:tr h="280208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Sprint 3 – Análisis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2025-05-26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2025-05-27</a:t>
                      </a:r>
                      <a:endParaRPr lang="es-ES" sz="1400" dirty="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días – Funcionalidades orientadas al cliente</a:t>
                      </a:r>
                      <a:endParaRPr lang="es-ES" sz="1400" dirty="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498407"/>
                  </a:ext>
                </a:extLst>
              </a:tr>
              <a:tr h="280208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Sprint 3 – Desarrollo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2025-05-28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2025-06-06</a:t>
                      </a:r>
                      <a:endParaRPr lang="es-ES" sz="1400" dirty="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 días – Historial, seguimiento y UI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0132545"/>
                  </a:ext>
                </a:extLst>
              </a:tr>
              <a:tr h="21794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Sprint 3 – Pruebas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2025-06-07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2025-06-08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días – Validación de interfaz</a:t>
                      </a:r>
                      <a:endParaRPr lang="es-ES" sz="1400" dirty="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164787"/>
                  </a:ext>
                </a:extLst>
              </a:tr>
              <a:tr h="280208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Sprint 4 – Análisis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2025-06-07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2025-06-08</a:t>
                      </a:r>
                      <a:endParaRPr lang="es-ES" sz="1400" dirty="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días – Revisión de reportes e integración</a:t>
                      </a:r>
                      <a:endParaRPr lang="es-ES" sz="1400" dirty="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153504"/>
                  </a:ext>
                </a:extLst>
              </a:tr>
              <a:tr h="280208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Sprint 4 – Desarrollo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2025-06-09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2025-06-18</a:t>
                      </a:r>
                      <a:endParaRPr lang="es-ES" sz="1400" dirty="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 días – Reportes y conexión SHIMANO</a:t>
                      </a:r>
                      <a:endParaRPr lang="es-ES" sz="1400" dirty="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454617"/>
                  </a:ext>
                </a:extLst>
              </a:tr>
              <a:tr h="280208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Sprint 4 – Pruebas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2025-06-19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2025-06-20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días – Validación final por componente</a:t>
                      </a:r>
                      <a:endParaRPr lang="es-ES" sz="1400" dirty="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482072"/>
                  </a:ext>
                </a:extLst>
              </a:tr>
              <a:tr h="342477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Pruebas del Sistema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2025-06-20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2025-06-24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días – Validación total del sistema y criterios de aceptación</a:t>
                      </a:r>
                      <a:endParaRPr lang="es-ES" sz="1400" dirty="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622305"/>
                  </a:ext>
                </a:extLst>
              </a:tr>
              <a:tr h="280208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Mantenimiento Inicial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2025-06-25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2025-07-01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 días – Corrección de errores y ajustes</a:t>
                      </a:r>
                      <a:endParaRPr lang="es-ES" sz="1400" dirty="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5690014"/>
                  </a:ext>
                </a:extLst>
              </a:tr>
              <a:tr h="280208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Cierre del Proyecto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2025-07-02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2025-07-04</a:t>
                      </a:r>
                      <a:endParaRPr lang="es-ES" sz="140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días – Documentación y entrega final</a:t>
                      </a:r>
                      <a:endParaRPr lang="es-ES" sz="1400" dirty="0">
                        <a:effectLst/>
                      </a:endParaRPr>
                    </a:p>
                  </a:txBody>
                  <a:tcPr marL="21621" marR="21621" marT="15567" marB="15567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9688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2998CDC-1878-340B-E6DB-A8DF8113EA39}"/>
              </a:ext>
            </a:extLst>
          </p:cNvPr>
          <p:cNvSpPr txBox="1"/>
          <p:nvPr/>
        </p:nvSpPr>
        <p:spPr>
          <a:xfrm>
            <a:off x="5215828" y="6293110"/>
            <a:ext cx="50529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Total 75 días </a:t>
            </a:r>
            <a:r>
              <a:rPr lang="en-US" sz="2000" b="1" dirty="0" err="1"/>
              <a:t>calendario</a:t>
            </a:r>
            <a:r>
              <a:rPr lang="en-US" sz="2000" b="1" dirty="0"/>
              <a:t>, 55 días </a:t>
            </a:r>
            <a:r>
              <a:rPr lang="en-US" sz="2000" b="1" dirty="0" err="1"/>
              <a:t>hábiles</a:t>
            </a:r>
            <a:endParaRPr lang="es-ES" sz="2000" b="1" dirty="0"/>
          </a:p>
        </p:txBody>
      </p:sp>
    </p:spTree>
    <p:extLst>
      <p:ext uri="{BB962C8B-B14F-4D97-AF65-F5344CB8AC3E}">
        <p14:creationId xmlns:p14="http://schemas.microsoft.com/office/powerpoint/2010/main" val="3412814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0EB43686-656C-6EE4-CB56-33516F5E7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>
            <a:extLst>
              <a:ext uri="{FF2B5EF4-FFF2-40B4-BE49-F238E27FC236}">
                <a16:creationId xmlns:a16="http://schemas.microsoft.com/office/drawing/2014/main" id="{73DC65C0-4D95-D815-6CF8-8D90587B5D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74901" y="433331"/>
            <a:ext cx="7048613" cy="44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 dirty="0"/>
              <a:t>Entorno de negocio</a:t>
            </a:r>
            <a:endParaRPr dirty="0"/>
          </a:p>
        </p:txBody>
      </p:sp>
      <p:sp>
        <p:nvSpPr>
          <p:cNvPr id="174" name="Google Shape;174;p5">
            <a:extLst>
              <a:ext uri="{FF2B5EF4-FFF2-40B4-BE49-F238E27FC236}">
                <a16:creationId xmlns:a16="http://schemas.microsoft.com/office/drawing/2014/main" id="{603FFB3B-C474-D781-1A26-E19A5ED59DEE}"/>
              </a:ext>
            </a:extLst>
          </p:cNvPr>
          <p:cNvSpPr txBox="1"/>
          <p:nvPr/>
        </p:nvSpPr>
        <p:spPr>
          <a:xfrm>
            <a:off x="1474901" y="339810"/>
            <a:ext cx="3860670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</a:pPr>
            <a:r>
              <a:rPr lang="es-ES" sz="28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Carta Gantt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9A9CD1C-56F7-CCFD-1DB1-17F3A4BE5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6060" y="974779"/>
            <a:ext cx="759142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1919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74FF9401-0F4D-1F6C-FA19-5FD5FDB03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>
            <a:extLst>
              <a:ext uri="{FF2B5EF4-FFF2-40B4-BE49-F238E27FC236}">
                <a16:creationId xmlns:a16="http://schemas.microsoft.com/office/drawing/2014/main" id="{3A6F5762-65B4-6C45-5A94-20EDF44F98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74901" y="433331"/>
            <a:ext cx="10302421" cy="44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 dirty="0"/>
              <a:t>Entorno de negocio</a:t>
            </a:r>
            <a:endParaRPr dirty="0"/>
          </a:p>
        </p:txBody>
      </p:sp>
      <p:sp>
        <p:nvSpPr>
          <p:cNvPr id="174" name="Google Shape;174;p5">
            <a:extLst>
              <a:ext uri="{FF2B5EF4-FFF2-40B4-BE49-F238E27FC236}">
                <a16:creationId xmlns:a16="http://schemas.microsoft.com/office/drawing/2014/main" id="{8486F87B-E497-EE3D-2358-C85AE82F80F0}"/>
              </a:ext>
            </a:extLst>
          </p:cNvPr>
          <p:cNvSpPr txBox="1"/>
          <p:nvPr/>
        </p:nvSpPr>
        <p:spPr>
          <a:xfrm>
            <a:off x="1474901" y="339810"/>
            <a:ext cx="9160442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</a:pPr>
            <a:r>
              <a:rPr lang="es-ES" sz="28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Estrategia de Gestión Proyecto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7FCF4C-8312-387F-0FE5-BB6E0D224783}"/>
              </a:ext>
            </a:extLst>
          </p:cNvPr>
          <p:cNvSpPr txBox="1"/>
          <p:nvPr/>
        </p:nvSpPr>
        <p:spPr>
          <a:xfrm>
            <a:off x="1515779" y="1152810"/>
            <a:ext cx="916044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Para el desarrollo del sistema MasterBikes se ha adoptado un enfoque ágil, específicamente el marco de trabajo Scrum, debido a su flexibilidad, iteración continua y enfoque en la entrega incremental de valor.</a:t>
            </a:r>
            <a:br>
              <a:rPr lang="es-ES" dirty="0"/>
            </a:br>
            <a:endParaRPr lang="es-E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8BB66CF-8941-6E1B-AFC0-5716C44BF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3088" y="247899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A282F0-5524-F84E-308A-AACE70B03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428" y="1742892"/>
            <a:ext cx="10297886" cy="435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035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01E47BC8-EA41-4112-139A-B68074950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>
            <a:extLst>
              <a:ext uri="{FF2B5EF4-FFF2-40B4-BE49-F238E27FC236}">
                <a16:creationId xmlns:a16="http://schemas.microsoft.com/office/drawing/2014/main" id="{64606D74-6C5A-89C0-EF52-34FD950716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74901" y="433331"/>
            <a:ext cx="10302421" cy="44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 dirty="0"/>
              <a:t>Entorno de negocio</a:t>
            </a:r>
            <a:endParaRPr dirty="0"/>
          </a:p>
        </p:txBody>
      </p:sp>
      <p:sp>
        <p:nvSpPr>
          <p:cNvPr id="174" name="Google Shape;174;p5">
            <a:extLst>
              <a:ext uri="{FF2B5EF4-FFF2-40B4-BE49-F238E27FC236}">
                <a16:creationId xmlns:a16="http://schemas.microsoft.com/office/drawing/2014/main" id="{18ECF682-FDAE-4F4C-A640-CA615A527403}"/>
              </a:ext>
            </a:extLst>
          </p:cNvPr>
          <p:cNvSpPr txBox="1"/>
          <p:nvPr/>
        </p:nvSpPr>
        <p:spPr>
          <a:xfrm>
            <a:off x="1474901" y="339810"/>
            <a:ext cx="9160442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</a:pPr>
            <a:r>
              <a:rPr lang="es-ES" sz="28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Alcance y Tiempo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3C4B29-025C-EB9A-5C39-95AFA9D8261D}"/>
              </a:ext>
            </a:extLst>
          </p:cNvPr>
          <p:cNvSpPr txBox="1"/>
          <p:nvPr/>
        </p:nvSpPr>
        <p:spPr>
          <a:xfrm>
            <a:off x="696686" y="1763486"/>
            <a:ext cx="1077685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2000" b="1" dirty="0"/>
              <a:t>Alcance funcional:</a:t>
            </a:r>
            <a:r>
              <a:rPr lang="es-ES" sz="2000" dirty="0"/>
              <a:t> El sistema automatiza procesos de atención al cliente, reparaciones, ventas, stock, reportes y conexión con proveedores mediante módulos desarrollados en </a:t>
            </a:r>
            <a:r>
              <a:rPr lang="es-ES" sz="2000" dirty="0" err="1"/>
              <a:t>sprints</a:t>
            </a:r>
            <a:r>
              <a:rPr lang="es-ES" sz="2000" dirty="0"/>
              <a:t> ágiles.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000" b="1" dirty="0"/>
              <a:t>Tiempo:</a:t>
            </a:r>
            <a:r>
              <a:rPr lang="es-ES" sz="2000" dirty="0"/>
              <a:t> El proyecto se ejecuta entre el 21 de abril y el 4 de julio de 2025, en 4 </a:t>
            </a:r>
            <a:r>
              <a:rPr lang="es-ES" sz="2000" dirty="0" err="1"/>
              <a:t>sprints</a:t>
            </a:r>
            <a:r>
              <a:rPr lang="es-ES" sz="2000" dirty="0"/>
              <a:t> más fases de análisis, pruebas, mantenimiento y cierre.</a:t>
            </a:r>
          </a:p>
          <a:p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69725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75153030-1F61-E076-6097-C1594334D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>
            <a:extLst>
              <a:ext uri="{FF2B5EF4-FFF2-40B4-BE49-F238E27FC236}">
                <a16:creationId xmlns:a16="http://schemas.microsoft.com/office/drawing/2014/main" id="{BFB546EE-4280-3CC1-880E-59A1E8F390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74901" y="433331"/>
            <a:ext cx="10302421" cy="44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 dirty="0"/>
              <a:t>Entorno de negocio</a:t>
            </a:r>
            <a:endParaRPr dirty="0"/>
          </a:p>
        </p:txBody>
      </p:sp>
      <p:sp>
        <p:nvSpPr>
          <p:cNvPr id="174" name="Google Shape;174;p5">
            <a:extLst>
              <a:ext uri="{FF2B5EF4-FFF2-40B4-BE49-F238E27FC236}">
                <a16:creationId xmlns:a16="http://schemas.microsoft.com/office/drawing/2014/main" id="{785385FA-5FC0-EE24-F4BD-52426B59880C}"/>
              </a:ext>
            </a:extLst>
          </p:cNvPr>
          <p:cNvSpPr txBox="1"/>
          <p:nvPr/>
        </p:nvSpPr>
        <p:spPr>
          <a:xfrm>
            <a:off x="1474901" y="339810"/>
            <a:ext cx="9160442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</a:pPr>
            <a:r>
              <a:rPr lang="es-ES" sz="28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Costos del Proyecto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CAD6C3-4DB5-50B4-D817-F60BD634E437}"/>
              </a:ext>
            </a:extLst>
          </p:cNvPr>
          <p:cNvSpPr txBox="1"/>
          <p:nvPr/>
        </p:nvSpPr>
        <p:spPr>
          <a:xfrm>
            <a:off x="1278958" y="4246093"/>
            <a:ext cx="21744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sz="2000" dirty="0"/>
          </a:p>
          <a:p>
            <a:r>
              <a:rPr lang="es-ES" sz="2000" b="1" dirty="0"/>
              <a:t>Costos RRHH:</a:t>
            </a:r>
            <a:endParaRPr lang="es-E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3602CC-7966-36CE-E0CF-E847393BE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32261"/>
              </p:ext>
            </p:extLst>
          </p:nvPr>
        </p:nvGraphicFramePr>
        <p:xfrm>
          <a:off x="1278958" y="5037528"/>
          <a:ext cx="8960010" cy="1097280"/>
        </p:xfrm>
        <a:graphic>
          <a:graphicData uri="http://schemas.openxmlformats.org/drawingml/2006/table">
            <a:tbl>
              <a:tblPr/>
              <a:tblGrid>
                <a:gridCol w="2384743">
                  <a:extLst>
                    <a:ext uri="{9D8B030D-6E8A-4147-A177-3AD203B41FA5}">
                      <a16:colId xmlns:a16="http://schemas.microsoft.com/office/drawing/2014/main" val="1390520297"/>
                    </a:ext>
                  </a:extLst>
                </a:gridCol>
                <a:gridCol w="2200593">
                  <a:extLst>
                    <a:ext uri="{9D8B030D-6E8A-4147-A177-3AD203B41FA5}">
                      <a16:colId xmlns:a16="http://schemas.microsoft.com/office/drawing/2014/main" val="781101112"/>
                    </a:ext>
                  </a:extLst>
                </a:gridCol>
                <a:gridCol w="1522730">
                  <a:extLst>
                    <a:ext uri="{9D8B030D-6E8A-4147-A177-3AD203B41FA5}">
                      <a16:colId xmlns:a16="http://schemas.microsoft.com/office/drawing/2014/main" val="3810865523"/>
                    </a:ext>
                  </a:extLst>
                </a:gridCol>
                <a:gridCol w="2851944">
                  <a:extLst>
                    <a:ext uri="{9D8B030D-6E8A-4147-A177-3AD203B41FA5}">
                      <a16:colId xmlns:a16="http://schemas.microsoft.com/office/drawing/2014/main" val="10361570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Costo total RRHH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Margen beneficio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Ganancia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Precio 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32861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s-ES" sz="2000"/>
                        <a:t>$13.483.000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/>
                        <a:t>15 %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$2.022.450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$15.505.450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5688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32E3ACA-EB8C-A785-F9E3-6AAF5784A5FC}"/>
              </a:ext>
            </a:extLst>
          </p:cNvPr>
          <p:cNvSpPr txBox="1"/>
          <p:nvPr/>
        </p:nvSpPr>
        <p:spPr>
          <a:xfrm>
            <a:off x="1268072" y="1928001"/>
            <a:ext cx="985488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Total de horas del equipo</a:t>
            </a:r>
            <a:endParaRPr lang="es-ES" sz="2000" b="0" dirty="0">
              <a:effectLst/>
            </a:endParaRPr>
          </a:p>
          <a:p>
            <a:pPr rtl="0" fontAlgn="base">
              <a:spcBef>
                <a:spcPts val="1200"/>
              </a:spcBef>
              <a:spcAft>
                <a:spcPts val="1200"/>
              </a:spcAft>
            </a:pPr>
            <a:r>
              <a:rPr lang="es-E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Roles: Scrum Master, Analista, Desarrollador y </a:t>
            </a:r>
            <a:r>
              <a:rPr lang="es-E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Tester</a:t>
            </a:r>
            <a:r>
              <a:rPr lang="es-E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→ 4 personas</a:t>
            </a:r>
          </a:p>
          <a:p>
            <a:pPr rtl="0" fontAlgn="base">
              <a:spcBef>
                <a:spcPts val="1200"/>
              </a:spcBef>
              <a:spcAft>
                <a:spcPts val="1200"/>
              </a:spcAft>
            </a:pPr>
            <a:r>
              <a:rPr lang="es-E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⇒ Horas totales = 440 h/rol × 4 roles = 1.760 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FECAF4-A70A-6B33-1C07-9AA6465B3EB9}"/>
              </a:ext>
            </a:extLst>
          </p:cNvPr>
          <p:cNvSpPr txBox="1"/>
          <p:nvPr/>
        </p:nvSpPr>
        <p:spPr>
          <a:xfrm>
            <a:off x="1278958" y="367972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Costo total RRHH</a:t>
            </a:r>
            <a:br>
              <a:rPr lang="es-E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s-E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1.760 horas × 7 660,7 CLP/h ≈ 13.482.835 CLP</a:t>
            </a:r>
            <a:endParaRPr lang="es-E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5EBDB7-E92A-24E7-F562-6EA35823C75D}"/>
              </a:ext>
            </a:extLst>
          </p:cNvPr>
          <p:cNvSpPr txBox="1"/>
          <p:nvPr/>
        </p:nvSpPr>
        <p:spPr>
          <a:xfrm>
            <a:off x="1278958" y="1400648"/>
            <a:ext cx="84690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Valor hora </a:t>
            </a:r>
            <a:r>
              <a:rPr lang="pt-BR" sz="2000" b="1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hombre</a:t>
            </a:r>
            <a:r>
              <a:rPr lang="pt-BR" sz="20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(HH): </a:t>
            </a:r>
            <a:r>
              <a:rPr lang="pt-BR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$1.327.855 CLP ÷ 173,33 h ≈ $7.660,7 CLP/h 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422948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4176D14B-8DBC-2EBF-3373-BB838A6A4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>
            <a:extLst>
              <a:ext uri="{FF2B5EF4-FFF2-40B4-BE49-F238E27FC236}">
                <a16:creationId xmlns:a16="http://schemas.microsoft.com/office/drawing/2014/main" id="{47176787-0EEB-6C75-FBE0-04D2BFEAD3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74901" y="433331"/>
            <a:ext cx="10302421" cy="44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 dirty="0"/>
              <a:t>Entorno de negocio</a:t>
            </a:r>
            <a:endParaRPr dirty="0"/>
          </a:p>
        </p:txBody>
      </p:sp>
      <p:sp>
        <p:nvSpPr>
          <p:cNvPr id="174" name="Google Shape;174;p5">
            <a:extLst>
              <a:ext uri="{FF2B5EF4-FFF2-40B4-BE49-F238E27FC236}">
                <a16:creationId xmlns:a16="http://schemas.microsoft.com/office/drawing/2014/main" id="{C02168B8-981E-260E-DD5D-CD6EB75EA20F}"/>
              </a:ext>
            </a:extLst>
          </p:cNvPr>
          <p:cNvSpPr txBox="1"/>
          <p:nvPr/>
        </p:nvSpPr>
        <p:spPr>
          <a:xfrm>
            <a:off x="1474901" y="339810"/>
            <a:ext cx="9160442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</a:pPr>
            <a:r>
              <a:rPr lang="es-ES" sz="28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Costos de Mantención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7B663CD-3E9D-540D-4325-0E77BC9F8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528113"/>
              </p:ext>
            </p:extLst>
          </p:nvPr>
        </p:nvGraphicFramePr>
        <p:xfrm>
          <a:off x="392112" y="1384209"/>
          <a:ext cx="11407776" cy="3505200"/>
        </p:xfrm>
        <a:graphic>
          <a:graphicData uri="http://schemas.openxmlformats.org/drawingml/2006/table">
            <a:tbl>
              <a:tblPr/>
              <a:tblGrid>
                <a:gridCol w="3802592">
                  <a:extLst>
                    <a:ext uri="{9D8B030D-6E8A-4147-A177-3AD203B41FA5}">
                      <a16:colId xmlns:a16="http://schemas.microsoft.com/office/drawing/2014/main" val="1649692506"/>
                    </a:ext>
                  </a:extLst>
                </a:gridCol>
                <a:gridCol w="3802592">
                  <a:extLst>
                    <a:ext uri="{9D8B030D-6E8A-4147-A177-3AD203B41FA5}">
                      <a16:colId xmlns:a16="http://schemas.microsoft.com/office/drawing/2014/main" val="224494406"/>
                    </a:ext>
                  </a:extLst>
                </a:gridCol>
                <a:gridCol w="3802592">
                  <a:extLst>
                    <a:ext uri="{9D8B030D-6E8A-4147-A177-3AD203B41FA5}">
                      <a16:colId xmlns:a16="http://schemas.microsoft.com/office/drawing/2014/main" val="168524477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Herramienta / Servicio</a:t>
                      </a:r>
                      <a:endParaRPr lang="es-E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/>
                        <a:t>Uso estimado</a:t>
                      </a:r>
                      <a:endParaRPr lang="es-E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Costo mensual aprox. (USD)</a:t>
                      </a:r>
                      <a:endParaRPr lang="es-E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25594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s-ES" sz="1600" b="0" dirty="0"/>
                        <a:t>AWS EC2 (t2.micro)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Instancia para desplegar microservicios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$8 – $10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5674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/>
                        <a:t>AWS RDS (Oracle free tier)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Base de datos Oracle (uso básico)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$15 – $20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523345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s-ES" sz="1600" b="0" dirty="0"/>
                        <a:t>Oracle DB local (alternativa)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Sin costo si se instala en entorno local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$0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19294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s-ES" sz="1600" b="0"/>
                        <a:t>Spring Boot (open source)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Framework de desarrollo backend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$0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54292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s-ES" sz="1600" b="0"/>
                        <a:t>HTML/CSS/JS (frontend básico)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Desarrollo web con tecnologías abiertas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$0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7482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s-ES" sz="1600" b="0"/>
                        <a:t>GitHub (plan básico)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Repositorio y control de versiones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$0 – $4 (dependiendo del plan)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85962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s-ES" sz="1600" b="0" dirty="0"/>
                        <a:t>Correo SMTP / AWS 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Envío de notificaciones (hasta 1000 mails)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$1 – $2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96475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s-ES" sz="1600" b="0" dirty="0"/>
                        <a:t>API externa SHIMANO (hipotética)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Llamadas a proveedor (suponiendo REST sin costo por ahora)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$0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66332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7D6178F-1928-14BA-5C21-71024A360EA3}"/>
              </a:ext>
            </a:extLst>
          </p:cNvPr>
          <p:cNvSpPr txBox="1"/>
          <p:nvPr/>
        </p:nvSpPr>
        <p:spPr>
          <a:xfrm>
            <a:off x="507545" y="5190054"/>
            <a:ext cx="112697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 tanto, serían 36 USD en un escenario máximo de costo de mantención de herramientas, equivalentes a $34.903 mensuales.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036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60719D37-BD2B-1B97-7525-3609B7615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>
            <a:extLst>
              <a:ext uri="{FF2B5EF4-FFF2-40B4-BE49-F238E27FC236}">
                <a16:creationId xmlns:a16="http://schemas.microsoft.com/office/drawing/2014/main" id="{888320A4-5D72-476C-1B50-AFF9CB90FA5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789900" y="547135"/>
            <a:ext cx="5932488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 sz="2800" b="1" dirty="0">
                <a:solidFill>
                  <a:schemeClr val="dk1"/>
                </a:solidFill>
              </a:rPr>
              <a:t>Calidad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B3C744-16C8-B107-6C9E-CFDFB8C52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112270"/>
              </p:ext>
            </p:extLst>
          </p:nvPr>
        </p:nvGraphicFramePr>
        <p:xfrm>
          <a:off x="1300956" y="1480585"/>
          <a:ext cx="9590088" cy="4234419"/>
        </p:xfrm>
        <a:graphic>
          <a:graphicData uri="http://schemas.openxmlformats.org/drawingml/2006/table">
            <a:tbl>
              <a:tblPr/>
              <a:tblGrid>
                <a:gridCol w="4795044">
                  <a:extLst>
                    <a:ext uri="{9D8B030D-6E8A-4147-A177-3AD203B41FA5}">
                      <a16:colId xmlns:a16="http://schemas.microsoft.com/office/drawing/2014/main" val="4113778143"/>
                    </a:ext>
                  </a:extLst>
                </a:gridCol>
                <a:gridCol w="4795044">
                  <a:extLst>
                    <a:ext uri="{9D8B030D-6E8A-4147-A177-3AD203B41FA5}">
                      <a16:colId xmlns:a16="http://schemas.microsoft.com/office/drawing/2014/main" val="404790281"/>
                    </a:ext>
                  </a:extLst>
                </a:gridCol>
              </a:tblGrid>
              <a:tr h="470491">
                <a:tc>
                  <a:txBody>
                    <a:bodyPr/>
                    <a:lstStyle/>
                    <a:p>
                      <a:pPr algn="ctr"/>
                      <a:r>
                        <a:rPr lang="es-ES" sz="1600" b="1"/>
                        <a:t>Acciones de mejora propuestas</a:t>
                      </a:r>
                      <a:endParaRPr lang="es-E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/>
                        <a:t>Beneficios esperados en la gestión</a:t>
                      </a:r>
                      <a:endParaRPr lang="es-E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3614898"/>
                  </a:ext>
                </a:extLst>
              </a:tr>
              <a:tr h="470491">
                <a:tc>
                  <a:txBody>
                    <a:bodyPr/>
                    <a:lstStyle/>
                    <a:p>
                      <a:pPr algn="ctr"/>
                      <a:r>
                        <a:rPr lang="es-ES" sz="1600"/>
                        <a:t>Validación y pruebas por sprint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/>
                        <a:t>Toma de decisiones basada en datos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218392"/>
                  </a:ext>
                </a:extLst>
              </a:tr>
              <a:tr h="470491">
                <a:tc>
                  <a:txBody>
                    <a:bodyPr/>
                    <a:lstStyle/>
                    <a:p>
                      <a:pPr algn="ctr"/>
                      <a:r>
                        <a:rPr lang="es-ES" sz="1600"/>
                        <a:t>Medidas de seguridad (JWT, cifrado)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/>
                        <a:t>Mayor eficiencia operativa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235309"/>
                  </a:ext>
                </a:extLst>
              </a:tr>
              <a:tr h="470491">
                <a:tc>
                  <a:txBody>
                    <a:bodyPr/>
                    <a:lstStyle/>
                    <a:p>
                      <a:pPr algn="ctr"/>
                      <a:r>
                        <a:rPr lang="es-ES" sz="1600"/>
                        <a:t>Automatización de pruebas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Ampliación de canales de atención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137603"/>
                  </a:ext>
                </a:extLst>
              </a:tr>
              <a:tr h="470491">
                <a:tc>
                  <a:txBody>
                    <a:bodyPr/>
                    <a:lstStyle/>
                    <a:p>
                      <a:pPr algn="ctr"/>
                      <a:r>
                        <a:rPr lang="es-ES" sz="1600"/>
                        <a:t>Documentación técnica y funcional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/>
                        <a:t>Mejora en la planificación operativa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051928"/>
                  </a:ext>
                </a:extLst>
              </a:tr>
              <a:tr h="470491">
                <a:tc>
                  <a:txBody>
                    <a:bodyPr/>
                    <a:lstStyle/>
                    <a:p>
                      <a:pPr algn="ctr"/>
                      <a:r>
                        <a:rPr lang="es-ES" sz="1600"/>
                        <a:t>Monitoreo y control de errores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/>
                        <a:t>Mayor control sobre el negocio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768823"/>
                  </a:ext>
                </a:extLst>
              </a:tr>
              <a:tr h="470491">
                <a:tc>
                  <a:txBody>
                    <a:bodyPr/>
                    <a:lstStyle/>
                    <a:p>
                      <a:pPr algn="ctr"/>
                      <a:r>
                        <a:rPr lang="es-ES" sz="1600"/>
                        <a:t>Capacitaciones internas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/>
                        <a:t>Posibilidad de expansión futura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403929"/>
                  </a:ext>
                </a:extLst>
              </a:tr>
              <a:tr h="470491">
                <a:tc>
                  <a:txBody>
                    <a:bodyPr/>
                    <a:lstStyle/>
                    <a:p>
                      <a:pPr algn="ctr"/>
                      <a:r>
                        <a:rPr lang="es-ES" sz="1600"/>
                        <a:t>Retroalimentación de usuarios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234150"/>
                  </a:ext>
                </a:extLst>
              </a:tr>
              <a:tr h="470491">
                <a:tc>
                  <a:txBody>
                    <a:bodyPr/>
                    <a:lstStyle/>
                    <a:p>
                      <a:pPr algn="ctr"/>
                      <a:r>
                        <a:rPr lang="es-ES" sz="1600"/>
                        <a:t>Pruebas de compatibilidad y usabilidad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5057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9758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0"/>
          <p:cNvSpPr txBox="1">
            <a:spLocks noGrp="1"/>
          </p:cNvSpPr>
          <p:nvPr>
            <p:ph type="title" idx="4294967295"/>
          </p:nvPr>
        </p:nvSpPr>
        <p:spPr>
          <a:xfrm>
            <a:off x="3691890" y="482918"/>
            <a:ext cx="4225925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 b="1" dirty="0">
                <a:solidFill>
                  <a:schemeClr val="dk1"/>
                </a:solidFill>
              </a:rPr>
              <a:t>Preguntas , Conclusiones y reflexiones</a:t>
            </a:r>
            <a:endParaRPr dirty="0"/>
          </a:p>
        </p:txBody>
      </p:sp>
      <p:pic>
        <p:nvPicPr>
          <p:cNvPr id="271" name="Google Shape;271;p20" descr="http://www.clipartroo.com/images/33/group-talking-clipart-3381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7998" y="1467168"/>
            <a:ext cx="6306311" cy="4221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DUOC 2">
      <a:dk1>
        <a:srgbClr val="172740"/>
      </a:dk1>
      <a:lt1>
        <a:srgbClr val="FFFFFF"/>
      </a:lt1>
      <a:dk2>
        <a:srgbClr val="81888F"/>
      </a:dk2>
      <a:lt2>
        <a:srgbClr val="FBC842"/>
      </a:lt2>
      <a:accent1>
        <a:srgbClr val="DE3075"/>
      </a:accent1>
      <a:accent2>
        <a:srgbClr val="702785"/>
      </a:accent2>
      <a:accent3>
        <a:srgbClr val="BDD503"/>
      </a:accent3>
      <a:accent4>
        <a:srgbClr val="00A0DE"/>
      </a:accent4>
      <a:accent5>
        <a:srgbClr val="FA742C"/>
      </a:accent5>
      <a:accent6>
        <a:srgbClr val="AE0F0F"/>
      </a:accent6>
      <a:hlink>
        <a:srgbClr val="723714"/>
      </a:hlink>
      <a:folHlink>
        <a:srgbClr val="6B79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8A06B26220EBB4D9BE65A30CA11F66E" ma:contentTypeVersion="12" ma:contentTypeDescription="Crear nuevo documento." ma:contentTypeScope="" ma:versionID="61a0a07bde3e9966b410a234b59745b2">
  <xsd:schema xmlns:xsd="http://www.w3.org/2001/XMLSchema" xmlns:xs="http://www.w3.org/2001/XMLSchema" xmlns:p="http://schemas.microsoft.com/office/2006/metadata/properties" xmlns:ns2="98c3be56-881a-4563-8baf-71e8c4e814b5" xmlns:ns3="d24ddc22-0ba6-40e6-b8c5-bac8505fbea3" targetNamespace="http://schemas.microsoft.com/office/2006/metadata/properties" ma:root="true" ma:fieldsID="8e7a28048e9544c33a13bb451e30e470" ns2:_="" ns3:_="">
    <xsd:import namespace="98c3be56-881a-4563-8baf-71e8c4e814b5"/>
    <xsd:import namespace="d24ddc22-0ba6-40e6-b8c5-bac8505fbe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c3be56-881a-4563-8baf-71e8c4e814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e2f773bf-f00b-42a6-8b07-050935be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4ddc22-0ba6-40e6-b8c5-bac8505fbea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7464395-00a7-48bc-8876-acbab67fe007}" ma:internalName="TaxCatchAll" ma:showField="CatchAllData" ma:web="d24ddc22-0ba6-40e6-b8c5-bac8505fbea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4ddc22-0ba6-40e6-b8c5-bac8505fbea3" xsi:nil="true"/>
    <lcf76f155ced4ddcb4097134ff3c332f xmlns="98c3be56-881a-4563-8baf-71e8c4e814b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8BAD760-5AC6-4CCF-BDE6-D7967EA754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c3be56-881a-4563-8baf-71e8c4e814b5"/>
    <ds:schemaRef ds:uri="d24ddc22-0ba6-40e6-b8c5-bac8505fbea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918CC97-CB02-40FC-9838-1583EAFB8302}">
  <ds:schemaRefs>
    <ds:schemaRef ds:uri="http://schemas.microsoft.com/office/2006/metadata/properties"/>
    <ds:schemaRef ds:uri="http://schemas.microsoft.com/office/infopath/2007/PartnerControls"/>
    <ds:schemaRef ds:uri="d24ddc22-0ba6-40e6-b8c5-bac8505fbea3"/>
    <ds:schemaRef ds:uri="98c3be56-881a-4563-8baf-71e8c4e814b5"/>
  </ds:schemaRefs>
</ds:datastoreItem>
</file>

<file path=customXml/itemProps3.xml><?xml version="1.0" encoding="utf-8"?>
<ds:datastoreItem xmlns:ds="http://schemas.openxmlformats.org/officeDocument/2006/customXml" ds:itemID="{957CFE8C-657F-47D4-8DF4-842230B1220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854</TotalTime>
  <Words>1749</Words>
  <Application>Microsoft Office PowerPoint</Application>
  <PresentationFormat>Widescreen</PresentationFormat>
  <Paragraphs>270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Roboto Condensed</vt:lpstr>
      <vt:lpstr>Arial</vt:lpstr>
      <vt:lpstr>Franklin Gothic</vt:lpstr>
      <vt:lpstr>Roboto Mono</vt:lpstr>
      <vt:lpstr>Calibri</vt:lpstr>
      <vt:lpstr>Bebas Neue</vt:lpstr>
      <vt:lpstr>Tema de Office</vt:lpstr>
      <vt:lpstr>Especificación de Requisitos de Software: MasterBikes </vt:lpstr>
      <vt:lpstr>PowerPoint Presentation</vt:lpstr>
      <vt:lpstr>Introducción</vt:lpstr>
      <vt:lpstr>Entorno de negocio</vt:lpstr>
      <vt:lpstr>Requisitos de Alto Nivel</vt:lpstr>
      <vt:lpstr>Requisitos Funcionales</vt:lpstr>
      <vt:lpstr>Requisitos No Funcionales</vt:lpstr>
      <vt:lpstr>Entorno de negocio</vt:lpstr>
      <vt:lpstr>Entorno de negocio</vt:lpstr>
      <vt:lpstr>Entorno de negocio</vt:lpstr>
      <vt:lpstr>Entorno de negocio</vt:lpstr>
      <vt:lpstr>Entorno de negocio</vt:lpstr>
      <vt:lpstr>Entorno de negocio</vt:lpstr>
      <vt:lpstr>Entorno de negocio</vt:lpstr>
      <vt:lpstr>Entorno de negocio</vt:lpstr>
      <vt:lpstr>Entorno de negocio</vt:lpstr>
      <vt:lpstr>Calidad</vt:lpstr>
      <vt:lpstr>Preguntas , Conclusiones y reflexiones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Gestión Ágil</dc:title>
  <dc:creator>Francisca Navarro</dc:creator>
  <cp:lastModifiedBy>Fabián Lecaros Ampuero</cp:lastModifiedBy>
  <cp:revision>30</cp:revision>
  <dcterms:modified xsi:type="dcterms:W3CDTF">2025-04-17T01:36:30Z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0x010100F8A06B26220EBB4D9BE65A30CA11F66E</vt:lpwstr>
  </property>
</Properties>
</file>